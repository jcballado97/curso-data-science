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c4a898166e412f" /><Relationship Type="http://schemas.openxmlformats.org/officeDocument/2006/relationships/extended-properties" Target="/docProps/app.xml" Id="Rf506fb436f934d17" /><Relationship Type="http://schemas.openxmlformats.org/officeDocument/2006/relationships/officeDocument" Target="/ppt/presentation.xml" Id="R136f68980a8a4f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4577c5ef2c4741"/>
  </p:sldMasterIdLst>
  <p:notesMasterIdLst>
    <p:notesMasterId xmlns:r="http://schemas.openxmlformats.org/officeDocument/2006/relationships" r:id="R9adfd54305cf4286"/>
  </p:notesMasterIdLst>
  <p:sldIdLst>
    <p:sldId xmlns:r="http://schemas.openxmlformats.org/officeDocument/2006/relationships" id="256" r:id="R61635b594c204a55"/>
    <p:sldId xmlns:r="http://schemas.openxmlformats.org/officeDocument/2006/relationships" id="257" r:id="R782104b68edc41bb"/>
    <p:sldId xmlns:r="http://schemas.openxmlformats.org/officeDocument/2006/relationships" id="258" r:id="R6c990c30dff14cba"/>
    <p:sldId xmlns:r="http://schemas.openxmlformats.org/officeDocument/2006/relationships" id="259" r:id="R6e5dedf297af405e"/>
    <p:sldId xmlns:r="http://schemas.openxmlformats.org/officeDocument/2006/relationships" id="260" r:id="Rb4ec4b95297d48de"/>
    <p:sldId xmlns:r="http://schemas.openxmlformats.org/officeDocument/2006/relationships" id="261" r:id="R67eaae21e890481c"/>
    <p:sldId xmlns:r="http://schemas.openxmlformats.org/officeDocument/2006/relationships" id="262" r:id="R9c409ecb2715485f"/>
    <p:sldId xmlns:r="http://schemas.openxmlformats.org/officeDocument/2006/relationships" id="263" r:id="R6b337c1704b64762"/>
    <p:sldId xmlns:r="http://schemas.openxmlformats.org/officeDocument/2006/relationships" id="264" r:id="R867df77b37a94715"/>
    <p:sldId xmlns:r="http://schemas.openxmlformats.org/officeDocument/2006/relationships" id="265" r:id="Rd3e67488b7e04b2e"/>
    <p:sldId xmlns:r="http://schemas.openxmlformats.org/officeDocument/2006/relationships" id="266" r:id="R853fc60be9c742b2"/>
    <p:sldId xmlns:r="http://schemas.openxmlformats.org/officeDocument/2006/relationships" id="267" r:id="R8eec4a0e782047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de330217284dd2" /><Relationship Type="http://schemas.openxmlformats.org/officeDocument/2006/relationships/slideMaster" Target="/ppt/slideMasters/slideMaster1.xml" Id="R4c4577c5ef2c4741" /><Relationship Type="http://schemas.openxmlformats.org/officeDocument/2006/relationships/notesMaster" Target="/ppt/notesMasters/notesMaster1.xml" Id="R9adfd54305cf4286" /><Relationship Type="http://schemas.openxmlformats.org/officeDocument/2006/relationships/presProps" Target="/ppt/presProps.xml" Id="R87f071e14fd54d7a" /><Relationship Type="http://schemas.openxmlformats.org/officeDocument/2006/relationships/tableStyles" Target="/ppt/tableStyles.xml" Id="R083fa1c79e4a491f" /><Relationship Type="http://schemas.openxmlformats.org/officeDocument/2006/relationships/slide" Target="/ppt/slides/slide1.xml" Id="R61635b594c204a55" /><Relationship Type="http://schemas.openxmlformats.org/officeDocument/2006/relationships/slide" Target="/ppt/slides/slide2.xml" Id="R782104b68edc41bb" /><Relationship Type="http://schemas.openxmlformats.org/officeDocument/2006/relationships/slide" Target="/ppt/slides/slide3.xml" Id="R6c990c30dff14cba" /><Relationship Type="http://schemas.openxmlformats.org/officeDocument/2006/relationships/slide" Target="/ppt/slides/slide4.xml" Id="R6e5dedf297af405e" /><Relationship Type="http://schemas.openxmlformats.org/officeDocument/2006/relationships/slide" Target="/ppt/slides/slide5.xml" Id="Rb4ec4b95297d48de" /><Relationship Type="http://schemas.openxmlformats.org/officeDocument/2006/relationships/slide" Target="/ppt/slides/slide6.xml" Id="R67eaae21e890481c" /><Relationship Type="http://schemas.openxmlformats.org/officeDocument/2006/relationships/slide" Target="/ppt/slides/slide7.xml" Id="R9c409ecb2715485f" /><Relationship Type="http://schemas.openxmlformats.org/officeDocument/2006/relationships/slide" Target="/ppt/slides/slide8.xml" Id="R6b337c1704b64762" /><Relationship Type="http://schemas.openxmlformats.org/officeDocument/2006/relationships/slide" Target="/ppt/slides/slide9.xml" Id="R867df77b37a94715" /><Relationship Type="http://schemas.openxmlformats.org/officeDocument/2006/relationships/slide" Target="/ppt/slides/slide10.xml" Id="Rd3e67488b7e04b2e" /><Relationship Type="http://schemas.openxmlformats.org/officeDocument/2006/relationships/slide" Target="/ppt/slides/slide11.xml" Id="R853fc60be9c742b2" /><Relationship Type="http://schemas.openxmlformats.org/officeDocument/2006/relationships/slide" Target="/ppt/slides/slide12.xml" Id="R8eec4a0e782047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6fe126fb8b42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df70a1876347fc" /><Relationship Type="http://schemas.openxmlformats.org/officeDocument/2006/relationships/notesMaster" Target="/ppt/notesMasters/notesMaster1.xml" Id="R22a41e9ef4e44ed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f41f7859a6f4ba2" /><Relationship Type="http://schemas.openxmlformats.org/officeDocument/2006/relationships/notesMaster" Target="/ppt/notesMasters/notesMaster1.xml" Id="R945356c421654d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a458e78a4d455f" /><Relationship Type="http://schemas.openxmlformats.org/officeDocument/2006/relationships/notesMaster" Target="/ppt/notesMasters/notesMaster1.xml" Id="R85e452706d884f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49485da7864a36" /><Relationship Type="http://schemas.openxmlformats.org/officeDocument/2006/relationships/notesMaster" Target="/ppt/notesMasters/notesMaster1.xml" Id="R802f11460a5d4c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942acbf8834c31" /><Relationship Type="http://schemas.openxmlformats.org/officeDocument/2006/relationships/notesMaster" Target="/ppt/notesMasters/notesMaster1.xml" Id="R9ac11e282d9a46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5af6d5547e42e1" /><Relationship Type="http://schemas.openxmlformats.org/officeDocument/2006/relationships/notesMaster" Target="/ppt/notesMasters/notesMaster1.xml" Id="R3d22e2abf81e4e9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661a2fadf4e4c99" /><Relationship Type="http://schemas.openxmlformats.org/officeDocument/2006/relationships/notesMaster" Target="/ppt/notesMasters/notesMaster1.xml" Id="R8ae4a4e235a248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8be0e06e934f0b" /><Relationship Type="http://schemas.openxmlformats.org/officeDocument/2006/relationships/notesMaster" Target="/ppt/notesMasters/notesMaster1.xml" Id="R8728ed11fe0248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064e396f0de4025" /><Relationship Type="http://schemas.openxmlformats.org/officeDocument/2006/relationships/notesMaster" Target="/ppt/notesMasters/notesMaster1.xml" Id="Rf00050288ed444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2451cafb894446" /><Relationship Type="http://schemas.openxmlformats.org/officeDocument/2006/relationships/notesMaster" Target="/ppt/notesMasters/notesMaster1.xml" Id="R9af5d138206a4d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5d8d99c98a04308" /><Relationship Type="http://schemas.openxmlformats.org/officeDocument/2006/relationships/notesMaster" Target="/ppt/notesMasters/notesMaster1.xml" Id="R621f15f8a70f47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eda1096eb1486e" /><Relationship Type="http://schemas.openxmlformats.org/officeDocument/2006/relationships/notesMaster" Target="/ppt/notesMasters/notesMaster1.xml" Id="Rcbfde049c49b42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Exposición de 20 minutos. Antonia introduce el caso y presenta la conclusión. Responsable de Proyecto 7 explica visualizaciones; responsable de Proyecto 8, Seaborn; José Carlos, preprocesamiento. Confirmar nombres y turnos con el equipo.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Expositor: Antonia. Datos incluidos en los tres paquetes. Explicar que una observación es un país en un año y que compartimos un mismo dataset para dar continuidad a la historia.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Expositor: Antonia. El profesor asignó los temas 7, 8 y 9. El código base enseña operaciones de Pandas, visualización y Machine Learning. En el Proyecto 7 se cambió la variable principal de población a esperanza de vida. El Proyecto 9 parte del ejemplo de Boston House Prices y aplica el preprocesamiento a Gapminder. Para el Proyecto 8 seguimos el tema Seaborn descrito en la consigna.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Expositor: responsable del Proyecto 7. Mostrar pivot(index=year, columns=country, values=life_exp), luego DataFrame.plot(kind=line). En el curso se visualizaba población; aquí se compara esperanza de vida en cinco países de Latinoamérica. Los años van de 1952 a 2007.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Expositor: responsable del Proyecto 7. El scatter para 2007 representa 142 países; usar la escala logarítmica del PIB facilita comparar magnitudes. Aclarar que una relación visual o correlación no demuestra causalidad.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Expositor: responsable del Proyecto 8. Mostrar sns.histplot(data=df, x=life_exp, kde=True). Histograma: cuántos registros caen en cada intervalo. KDE: forma suavizada de la distribución. En el notebook hay cinco visualizaciones guardadas.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Expositor: responsable del Proyecto 8. df[variables_numericas].corr() calcula correlaciones lineales, y sns.heatmap las colorea. La asociación life_exp con gdp_cap es aproximadamente 0.58 en las 1,704 filas. Correlación no equivale a causalidad.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Expositor: José Carlos. Plantear un problema de clasificación binaria: esperanza de vida alta o baja según la mediana de 60.71 años. Son 852 de cada clase. La columna life_exp no entra entre predictores porque se usó para crear la etiqueta.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Expositor: José Carlos. Primero se separan 1,363 filas para entrenar y 341 para probar. ColumnTransformer escala las tres variables numéricas y OneHotEncoder convierte los cinco continentes en columnas 0 o 1. fit_transform se usa solo en entrenamiento; transform se usa en prueba.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Expositor: José Carlos. Regresión logística auxiliar para verificar que el preprocesamiento sirve como entrada de modelo. 288 de 341 predicciones correctas: 84.5 por ciento de exactitud. Matriz: [[147,24],[29,141]]. Explicar filas como realidad y columnas como predicción.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Expositor: Antonia. Repasar tres decisiones. 1) Si cambiamos los países, cambian las líneas. 2) Si filtramos un periodo, puede cambiar la correlación. 3) Si cambia el umbral de vida o el reparto entrenamiento/prueba, cambia la clase y la exactitud. La partición por registros puede incluir años de un mismo país en ambos conjuntos.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Expositor: Antonia. Abrir la carpeta de cada proyecto y mostrar el notebook y las figuras. Si hay conexión, abrir en vivo el notebook del Proyecto 9 en Colab. Cerrar mostrando README y PDFs. El material original del curso pertenece a Frank Andrade. Dataset Gapminder de Kaggle, Tetiana Klimonova. Consigna del profesor Fernando Mayorga Guittins.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5994202a1e40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c8e5e6bca442b5" /><Relationship Type="http://schemas.openxmlformats.org/officeDocument/2006/relationships/slideLayout" Target="/ppt/slideLayouts/slideLayout1.xml" Id="Rcd1f5f3c31304d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1f5f3c31304d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7fb4e0c0e440e4" /><Relationship Type="http://schemas.openxmlformats.org/officeDocument/2006/relationships/notesSlide" Target="/ppt/notesSlides/notesSlide1.xml" Id="R7907552307ac43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247d25c4349a4" /><Relationship Type="http://schemas.openxmlformats.org/officeDocument/2006/relationships/notesSlide" Target="/ppt/notesSlides/notesSlide2.xml" Id="R3d7804062e1448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c7cf6bd904001" /><Relationship Type="http://schemas.openxmlformats.org/officeDocument/2006/relationships/notesSlide" Target="/ppt/notesSlides/notesSlide3.xml" Id="R07f7a4cdd41948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119d535d16473e" /><Relationship Type="http://schemas.openxmlformats.org/officeDocument/2006/relationships/image" Target="/ppt/media/image.png" Id="R4e9e228375264bfd" /><Relationship Type="http://schemas.openxmlformats.org/officeDocument/2006/relationships/notesSlide" Target="/ppt/notesSlides/notesSlide4.xml" Id="R84a415fcd46f406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e66bc39044f11" /><Relationship Type="http://schemas.openxmlformats.org/officeDocument/2006/relationships/image" Target="/ppt/media/image2.png" Id="R228bb4ae73724183" /><Relationship Type="http://schemas.openxmlformats.org/officeDocument/2006/relationships/notesSlide" Target="/ppt/notesSlides/notesSlide5.xml" Id="Rf57f9b3a3b924f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044ec9d7e49f6" /><Relationship Type="http://schemas.openxmlformats.org/officeDocument/2006/relationships/image" Target="/ppt/media/image3.png" Id="R2edbebf069c344f4" /><Relationship Type="http://schemas.openxmlformats.org/officeDocument/2006/relationships/notesSlide" Target="/ppt/notesSlides/notesSlide6.xml" Id="R563606f21b4949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560a7070545ca" /><Relationship Type="http://schemas.openxmlformats.org/officeDocument/2006/relationships/image" Target="/ppt/media/image4.png" Id="R928d33d2a84a4fac" /><Relationship Type="http://schemas.openxmlformats.org/officeDocument/2006/relationships/notesSlide" Target="/ppt/notesSlides/notesSlide7.xml" Id="R84e16f29124d404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a911767c84779" /><Relationship Type="http://schemas.openxmlformats.org/officeDocument/2006/relationships/image" Target="/ppt/media/image5.png" Id="R563c33672e3044a0" /><Relationship Type="http://schemas.openxmlformats.org/officeDocument/2006/relationships/notesSlide" Target="/ppt/notesSlides/notesSlide8.xml" Id="R70e005e1da0849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d809c649004b4c" /><Relationship Type="http://schemas.openxmlformats.org/officeDocument/2006/relationships/image" Target="/ppt/media/image6.png" Id="R65b81143b81e4777" /><Relationship Type="http://schemas.openxmlformats.org/officeDocument/2006/relationships/notesSlide" Target="/ppt/notesSlides/notesSlide9.xml" Id="R12aa19d29e1a42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de82384384612" /><Relationship Type="http://schemas.openxmlformats.org/officeDocument/2006/relationships/image" Target="/ppt/media/image7.png" Id="R7a4afcec5c474619" /><Relationship Type="http://schemas.openxmlformats.org/officeDocument/2006/relationships/notesSlide" Target="/ppt/notesSlides/notesSlide10.xml" Id="R6012d71e31e34a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1fa1380d7401b" /><Relationship Type="http://schemas.openxmlformats.org/officeDocument/2006/relationships/notesSlide" Target="/ppt/notesSlides/notesSlide11.xml" Id="R01f8e01241a54f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95939cd84a47ef" /><Relationship Type="http://schemas.openxmlformats.org/officeDocument/2006/relationships/notesSlide" Target="/ppt/notesSlides/notesSlide12.xml" Id="Raa3f38fa84b344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C1F36-D01C-4428-A654-418B0C55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108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Gapminder: tres proyectos de Ciencia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ADF2F-98E1-4859-9130-3B2EB0F9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10096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D96C4C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D96C4C"/>
                </a:solidFill>
                <a:latin typeface="Nimbus Sans"/>
                <a:ea typeface="Nimbus Sans"/>
                <a:cs typeface="Nimbus Sans"/>
              </a:rPr>
              <a:t>Equipo B · Laboratorio práctico 2.1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5EA7F-794C-49FD-BE50-1AD48C00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193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16865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516865"/>
                </a:solidFill>
                <a:latin typeface="Nimbus Sans"/>
                <a:ea typeface="Nimbus Sans"/>
                <a:cs typeface="Nimbus Sans"/>
              </a:rPr>
              <a:t>Ciencia de Datos | Ingeniería en Sistemas Computacionales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0FA93-D480-4651-9BE9-391C7F09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6717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Proyectos 7, 8 y 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DBB48-0B62-4FF3-B9C7-932731DA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865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16865"/>
                </a:solidFill>
                <a:latin typeface="Nimbus Sans"/>
                <a:ea typeface="Nimbus Sans"/>
                <a:cs typeface="Nimbus Sans"/>
              </a:rPr>
              <a:t>Autores del reporte: Arturo Obeth, José Carlos Hernández Ballado, Ángel y Antonia Martínez Santos</a:t>
            </a:r>
          </a:p>
        </p:txBody>
      </p:sp>
    </p:spTree>
    <p:extLst>
      <p:ext uri="{BB962C8B-B14F-4D97-AF65-F5344CB8AC3E}">
        <p14:creationId xmlns:p14="http://schemas.microsoft.com/office/powerpoint/2010/main" val="11043143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2A1545-7C3D-40B6-A217-A6F5F4A7B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108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Pregunta y conjunto de datos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40BF4-A224-45D4-8ACB-434ADE2F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¿Cómo describir, visualizar y preparar la información histórica de los países?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6C298-0DD0-4936-97B8-4C561BC15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D96C4C"/>
                </a:solidFill>
                <a:latin typeface="Nimbus Sans"/>
                <a:ea typeface="Nimbus Sans"/>
                <a:cs typeface="Nimbus Sans"/>
              </a:defRPr>
            </a:pPr>
            <a:r>
              <a:rPr sz="2475" b="1">
                <a:solidFill>
                  <a:srgbClr val="D96C4C"/>
                </a:solidFill>
                <a:latin typeface="Nimbus Sans"/>
                <a:ea typeface="Nimbus Sans"/>
                <a:cs typeface="Nimbus Sans"/>
              </a:rPr>
              <a:t>1,704 observaciones  ·  142 países  ·  1952 a 2007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2DD363-1604-4FFB-BFCF-FAF17958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0382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País, año, población, continente, esperanza de vida y PIB por habitante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DB283D-8B69-421C-8FFD-D024FBFB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865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16865"/>
                </a:solidFill>
                <a:latin typeface="Nimbus Sans"/>
                <a:ea typeface="Nimbus Sans"/>
                <a:cs typeface="Nimbus Sans"/>
              </a:rPr>
              <a:t>Fuente: Gapminder World (archivo incluido en el repositorio)</a:t>
            </a:r>
          </a:p>
        </p:txBody>
      </p:sp>
    </p:spTree>
    <p:extLst>
      <p:ext uri="{BB962C8B-B14F-4D97-AF65-F5344CB8AC3E}">
        <p14:creationId xmlns:p14="http://schemas.microsoft.com/office/powerpoint/2010/main" val="18474058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232F1-1FE6-4265-8EED-F2036A7F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108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Qué adaptamos del curso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3A554-5307-49DD-8C22-420B8A1D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7   Gráficas con pivot y DataFrame.plot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D7D3C-8DC4-426F-A2E8-A26FA802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8   Distribuciones y mapas de calor con Seaborn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FE7D49-921E-4280-ABA0-689F01DC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9   StandardScaler y OneHotEncoder con scikit-learn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D57FE-CA06-42D1-AC2E-BC2C7907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865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16865"/>
                </a:solidFill>
                <a:latin typeface="Nimbus Sans"/>
                <a:ea typeface="Nimbus Sans"/>
                <a:cs typeface="Nimbus Sans"/>
              </a:rPr>
              <a:t>Las tres adaptaciones analizan el mismo conjunto de datos.</a:t>
            </a:r>
          </a:p>
        </p:txBody>
      </p:sp>
    </p:spTree>
    <p:extLst>
      <p:ext uri="{BB962C8B-B14F-4D97-AF65-F5344CB8AC3E}">
        <p14:creationId xmlns:p14="http://schemas.microsoft.com/office/powerpoint/2010/main" val="3128113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F22129-09C2-44C2-AA2A-74E2A240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108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Proyecto 7: evolución de la esperanza de vida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9e228375264bfd"/>
          <a:stretch xmlns:a="http://schemas.openxmlformats.org/drawingml/2006/main"/>
        </p:blipFill>
        <p:spPr>
          <a:xfrm xmlns:a="http://schemas.openxmlformats.org/drawingml/2006/main">
            <a:off x="768286" y="1447800"/>
            <a:ext cx="7131179" cy="409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12FBF-5C88-4904-97A5-27D942E9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05000"/>
            <a:ext cx="3190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México, Brasil, Argentina, Colombia y Chile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96797-8E3B-4437-A333-C8B278C8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162300"/>
            <a:ext cx="3190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Las cinco series aumentan entre 1952 y 2007.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AA5F3-319C-4808-ADC1-BD7429D1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865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16865"/>
                </a:solidFill>
                <a:latin typeface="Nimbus Sans"/>
                <a:ea typeface="Nimbus Sans"/>
                <a:cs typeface="Nimbus Sans"/>
              </a:rPr>
              <a:t>Archivo de origen: Proyecto7_Visualizacion_Adaptado.ipynb</a:t>
            </a:r>
          </a:p>
        </p:txBody>
      </p:sp>
    </p:spTree>
    <p:extLst>
      <p:ext uri="{BB962C8B-B14F-4D97-AF65-F5344CB8AC3E}">
        <p14:creationId xmlns:p14="http://schemas.microsoft.com/office/powerpoint/2010/main" val="12940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F06F07-B208-444F-B55F-34EED940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108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Proyecto 7: PIB y esperanza de vida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8bb4ae73724183"/>
          <a:stretch xmlns:a="http://schemas.openxmlformats.org/drawingml/2006/main"/>
        </p:blipFill>
        <p:spPr>
          <a:xfrm xmlns:a="http://schemas.openxmlformats.org/drawingml/2006/main">
            <a:off x="812967" y="1571625"/>
            <a:ext cx="7041816" cy="409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17639C-E754-4746-9AA1-4750D6CB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0025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142 países en 2007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F06718-F12D-4D6F-9240-4A02A45A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48000"/>
            <a:ext cx="3000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PIB por habitante en escala logarítmica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5CFC6C-7EA6-4E73-8423-66785045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865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16865"/>
                </a:solidFill>
                <a:latin typeface="Nimbus Sans"/>
                <a:ea typeface="Nimbus Sans"/>
                <a:cs typeface="Nimbus Sans"/>
              </a:rPr>
              <a:t>Una asociación estadística por sí sola no identifica la causa.</a:t>
            </a:r>
          </a:p>
        </p:txBody>
      </p:sp>
    </p:spTree>
    <p:extLst>
      <p:ext uri="{BB962C8B-B14F-4D97-AF65-F5344CB8AC3E}">
        <p14:creationId xmlns:p14="http://schemas.microsoft.com/office/powerpoint/2010/main" val="5567197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F21B7-1F76-4CBF-AEE8-0CE62053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108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Proyecto 8: distribución con Seaborn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bebf069c344f4"/>
          <a:stretch xmlns:a="http://schemas.openxmlformats.org/drawingml/2006/main"/>
        </p:blipFill>
        <p:spPr>
          <a:xfrm xmlns:a="http://schemas.openxmlformats.org/drawingml/2006/main">
            <a:off x="819918" y="1562100"/>
            <a:ext cx="6923139" cy="409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F8010-ECDB-4226-956B-EC9D3606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52625"/>
            <a:ext cx="3524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sns.histplot(..., kde=True)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1B651D-AE9A-4917-96B0-D00ED049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62300"/>
            <a:ext cx="349567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Las barras muestran frecuencias; KDE resume la forma de la distribución.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C0FC6-9BF7-43CE-8D07-08BFDAE1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865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16865"/>
                </a:solidFill>
                <a:latin typeface="Nimbus Sans"/>
                <a:ea typeface="Nimbus Sans"/>
                <a:cs typeface="Nimbus Sans"/>
              </a:rPr>
              <a:t>La esperanza de vida se mide en años.</a:t>
            </a:r>
          </a:p>
        </p:txBody>
      </p:sp>
    </p:spTree>
    <p:extLst>
      <p:ext uri="{BB962C8B-B14F-4D97-AF65-F5344CB8AC3E}">
        <p14:creationId xmlns:p14="http://schemas.microsoft.com/office/powerpoint/2010/main" val="17549674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1BA075-AB09-4D84-9EDB-AC93E64B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108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Proyecto 8: correlación y mapa de calor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d33d2a84a4fac"/>
          <a:stretch xmlns:a="http://schemas.openxmlformats.org/drawingml/2006/main"/>
        </p:blipFill>
        <p:spPr>
          <a:xfrm xmlns:a="http://schemas.openxmlformats.org/drawingml/2006/main">
            <a:off x="1585668" y="1524000"/>
            <a:ext cx="5448788" cy="43815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6B39A6-808C-4910-A8B7-E2F60907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0"/>
            <a:ext cx="285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575" b="1">
                <a:solidFill>
                  <a:srgbClr val="D96C4C"/>
                </a:solidFill>
                <a:latin typeface="Nimbus Sans"/>
                <a:ea typeface="Nimbus Sans"/>
                <a:cs typeface="Nimbus Sans"/>
              </a:defRPr>
            </a:pPr>
            <a:r>
              <a:rPr sz="4575" b="1">
                <a:solidFill>
                  <a:srgbClr val="D96C4C"/>
                </a:solidFill>
                <a:latin typeface="Nimbus Sans"/>
                <a:ea typeface="Nimbus Sans"/>
                <a:cs typeface="Nimbus Sans"/>
              </a:rPr>
              <a:t>0.58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0456C6-324E-4253-A08E-87ED7D3C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2762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Correlación entre esperanza de vida y PIB por habitante</a:t>
            </a:r>
          </a:p>
        </p:txBody>
      </p:sp>
    </p:spTree>
    <p:extLst>
      <p:ext uri="{BB962C8B-B14F-4D97-AF65-F5344CB8AC3E}">
        <p14:creationId xmlns:p14="http://schemas.microsoft.com/office/powerpoint/2010/main" val="3844026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07FA7-1E49-41B7-B41D-A1B71C9C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108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Proyecto 9: objetivo y variables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3c33672e3044a0"/>
          <a:stretch xmlns:a="http://schemas.openxmlformats.org/drawingml/2006/main"/>
        </p:blipFill>
        <p:spPr>
          <a:xfrm xmlns:a="http://schemas.openxmlformats.org/drawingml/2006/main">
            <a:off x="1366467" y="1638300"/>
            <a:ext cx="5420466" cy="40195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FE9CCF-4AC7-468F-91A1-52BD9BF3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342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D96C4C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D96C4C"/>
                </a:solidFill>
                <a:latin typeface="Nimbus Sans"/>
                <a:ea typeface="Nimbus Sans"/>
                <a:cs typeface="Nimbus Sans"/>
              </a:rPr>
              <a:t>60.71 años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632A9-F67E-4EC3-B59D-F2FF42DD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048000"/>
            <a:ext cx="333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Mediana histórica usada como umbral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B856C6-923D-4AED-88FD-143CD5D0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143375"/>
            <a:ext cx="3333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1575" b="0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Predictores: año, población, PIB por habitante y continente</a:t>
            </a:r>
          </a:p>
        </p:txBody>
      </p:sp>
    </p:spTree>
    <p:extLst>
      <p:ext uri="{BB962C8B-B14F-4D97-AF65-F5344CB8AC3E}">
        <p14:creationId xmlns:p14="http://schemas.microsoft.com/office/powerpoint/2010/main" val="2242347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D8F87-A784-41AD-8E81-0340080D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108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Proyecto 9: transformación de las variables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b81143b81e4777"/>
          <a:stretch xmlns:a="http://schemas.openxmlformats.org/drawingml/2006/main"/>
        </p:blipFill>
        <p:spPr>
          <a:xfrm xmlns:a="http://schemas.openxmlformats.org/drawingml/2006/main">
            <a:off x="2792369" y="1524000"/>
            <a:ext cx="5969087" cy="37623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F58998-F9AC-4767-9E94-98FC9565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72100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3 variables numéricas + 5 columnas de continente = 8 entradas</a:t>
            </a:r>
          </a:p>
        </p:txBody>
      </p:sp>
    </p:spTree>
    <p:extLst>
      <p:ext uri="{BB962C8B-B14F-4D97-AF65-F5344CB8AC3E}">
        <p14:creationId xmlns:p14="http://schemas.microsoft.com/office/powerpoint/2010/main" val="4995637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E7E7DE-93BD-42E3-A529-DBF57BE9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108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Proyecto 9: resultado de la comprobación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afcec5c474619"/>
          <a:stretch xmlns:a="http://schemas.openxmlformats.org/drawingml/2006/main"/>
        </p:blipFill>
        <p:spPr>
          <a:xfrm xmlns:a="http://schemas.openxmlformats.org/drawingml/2006/main">
            <a:off x="1639678" y="1504950"/>
            <a:ext cx="4845468" cy="4191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A5B68D-9FCB-436E-961C-475DE845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038350"/>
            <a:ext cx="31908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D96C4C"/>
                </a:solidFill>
                <a:latin typeface="Nimbus Sans"/>
                <a:ea typeface="Nimbus Sans"/>
                <a:cs typeface="Nimbus Sans"/>
              </a:defRPr>
            </a:pPr>
            <a:r>
              <a:rPr sz="4650" b="1">
                <a:solidFill>
                  <a:srgbClr val="D96C4C"/>
                </a:solidFill>
                <a:latin typeface="Nimbus Sans"/>
                <a:ea typeface="Nimbus Sans"/>
                <a:cs typeface="Nimbus Sans"/>
              </a:rPr>
              <a:t>84.5 %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F9DBE1-6095-4F2E-861A-3F40523EB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248025"/>
            <a:ext cx="319087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288 aciertos de 341 registros de prueba</a:t>
            </a:r>
          </a:p>
        </p:txBody>
      </p:sp>
    </p:spTree>
    <p:extLst>
      <p:ext uri="{BB962C8B-B14F-4D97-AF65-F5344CB8AC3E}">
        <p14:creationId xmlns:p14="http://schemas.microsoft.com/office/powerpoint/2010/main" val="6668627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AC43E-28EF-42CC-85A9-3EECEA7B7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108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Qué aprendimos y qué cambiaría el resultado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E0DEC5-97AB-4C2F-845D-BFB3E656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9545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La selección de países determina la comparación.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3990F0-B514-4891-877E-215C11883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0510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Una correlación resume asociación en el periodo analizado.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89026-05B6-4560-93A5-C722AB22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14750"/>
            <a:ext cx="10382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El umbral y la partición afectan al clasificador.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9D895-82DB-4760-8545-42614A14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16865"/>
                </a:solidFill>
                <a:latin typeface="Nimbus Sans"/>
                <a:ea typeface="Nimbus Sans"/>
                <a:cs typeface="Nimbus Sans"/>
              </a:defRPr>
            </a:pPr>
            <a:r>
              <a:rPr sz="1200" b="0">
                <a:solidFill>
                  <a:srgbClr val="516865"/>
                </a:solidFill>
                <a:latin typeface="Nimbus Sans"/>
                <a:ea typeface="Nimbus Sans"/>
                <a:cs typeface="Nimbus Sans"/>
              </a:rPr>
              <a:t>La exactitud observada no demuestra desempeño en países nunca vistos.</a:t>
            </a:r>
          </a:p>
        </p:txBody>
      </p:sp>
    </p:spTree>
    <p:extLst>
      <p:ext uri="{BB962C8B-B14F-4D97-AF65-F5344CB8AC3E}">
        <p14:creationId xmlns:p14="http://schemas.microsoft.com/office/powerpoint/2010/main" val="2165484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C8ADD8-AA52-4671-97F2-F53F5581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8625"/>
            <a:ext cx="1081087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Archivos, fuentes y preguntas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6D8EE-C6DC-402F-9044-A8F99236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38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Tres notebooks, un dataset compartido y figuras reproducibles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C16407-C437-4347-BD99-306CB311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Código base: github.com/thepycoach/curso-data-science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5723C1-5E17-4476-84E7-1F86DD7DC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835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73835"/>
                </a:solidFill>
                <a:latin typeface="Nimbus Sans"/>
                <a:ea typeface="Nimbus Sans"/>
                <a:cs typeface="Nimbus Sans"/>
              </a:rPr>
              <a:t>Datos: kaggle.com/datasets/tklimonova/gapminder-datacamp-2007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7594FE-94F7-462B-B70D-93CC2034A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96C4C"/>
                </a:solidFill>
                <a:latin typeface="Nimbus Sans"/>
                <a:ea typeface="Nimbus Sans"/>
                <a:cs typeface="Nimbus Sans"/>
              </a:defRPr>
            </a:pPr>
            <a:r>
              <a:rPr sz="2400" b="1">
                <a:solidFill>
                  <a:srgbClr val="D96C4C"/>
                </a:solidFill>
                <a:latin typeface="Nimbus Sans"/>
                <a:ea typeface="Nimbus Sans"/>
                <a:cs typeface="Nimbus Sans"/>
              </a:rPr>
              <a:t>Preguntas</a:t>
            </a:r>
          </a:p>
        </p:txBody>
      </p:sp>
    </p:spTree>
    <p:extLst>
      <p:ext uri="{BB962C8B-B14F-4D97-AF65-F5344CB8AC3E}">
        <p14:creationId xmlns:p14="http://schemas.microsoft.com/office/powerpoint/2010/main" val="8933893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2026-09-26T15:41:04.5990000Z</dcterms:created>
  <dcterms:modified xsi:type="dcterms:W3CDTF">2026-09-26T15:41:04.5990000Z</dcterms:modified>
</coreProperties>
</file>