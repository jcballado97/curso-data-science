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smic Octo Bold" panose="020B0604020202020204" charset="0"/>
      <p:regular r:id="rId19"/>
    </p:embeddedFont>
    <p:embeddedFont>
      <p:font typeface="Fira Code" panose="020B0809050000020004" pitchFamily="49" charset="0"/>
      <p:regular r:id="rId20"/>
      <p:bold r:id="rId21"/>
    </p:embeddedFont>
    <p:embeddedFont>
      <p:font typeface="Hagrid Heavy" panose="020B0604020202020204" charset="0"/>
      <p:regular r:id="rId22"/>
    </p:embeddedFont>
    <p:embeddedFont>
      <p:font typeface="Hagrid Ultra-Bold" panose="020B0604020202020204" charset="0"/>
      <p:regular r:id="rId23"/>
    </p:embeddedFont>
    <p:embeddedFont>
      <p:font typeface="Monument Bold" panose="020B0604020202020204" charset="0"/>
      <p:regular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Bold" panose="00000800000000000000" charset="0"/>
      <p:regular r:id="rId29"/>
    </p:embeddedFont>
    <p:embeddedFont>
      <p:font typeface="Poppins Heavy" panose="020B0604020202020204" charset="0"/>
      <p:regular r:id="rId30"/>
    </p:embeddedFont>
    <p:embeddedFont>
      <p:font typeface="Poppins Medium" panose="00000600000000000000" pitchFamily="2" charset="0"/>
      <p:regular r:id="rId31"/>
      <p:italic r:id="rId32"/>
    </p:embeddedFont>
    <p:embeddedFont>
      <p:font typeface="Public Sans" panose="020B0604020202020204" charset="0"/>
      <p:regular r:id="rId33"/>
    </p:embeddedFont>
    <p:embeddedFont>
      <p:font typeface="Public Sans Bold" panose="020B0604020202020204" charset="0"/>
      <p:regular r:id="rId34"/>
    </p:embeddedFont>
    <p:embeddedFont>
      <p:font typeface="Public Sans Italics" panose="020B0604020202020204" charset="0"/>
      <p:regular r:id="rId35"/>
    </p:embeddedFont>
    <p:embeddedFont>
      <p:font typeface="Raleway Bold" panose="020B0604020202020204" charset="0"/>
      <p:regular r:id="rId36"/>
    </p:embeddedFont>
    <p:embeddedFont>
      <p:font typeface="Raleway Heavy" panose="020B0604020202020204" charset="0"/>
      <p:regular r:id="rId37"/>
    </p:embeddedFont>
    <p:embeddedFont>
      <p:font typeface="Raleway Semi-Bold" panose="020B0604020202020204" charset="0"/>
      <p:regular r:id="rId38"/>
    </p:embeddedFont>
    <p:embeddedFont>
      <p:font typeface="Tomorrow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18.png"/><Relationship Id="rId4" Type="http://schemas.openxmlformats.org/officeDocument/2006/relationships/image" Target="../media/image20.png"/><Relationship Id="rId9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oleObject" Target="../embeddings/oleObject3.bin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6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1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571750"/>
            <a:ext cx="1095375" cy="1714500"/>
          </a:xfrm>
          <a:custGeom>
            <a:avLst/>
            <a:gdLst/>
            <a:ahLst/>
            <a:cxnLst/>
            <a:rect l="l" t="t" r="r" b="b"/>
            <a:pathLst>
              <a:path w="1095375" h="1714500">
                <a:moveTo>
                  <a:pt x="0" y="0"/>
                </a:moveTo>
                <a:lnTo>
                  <a:pt x="1095375" y="0"/>
                </a:lnTo>
                <a:lnTo>
                  <a:pt x="10953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00925" y="5781675"/>
            <a:ext cx="10887075" cy="4505325"/>
          </a:xfrm>
          <a:custGeom>
            <a:avLst/>
            <a:gdLst/>
            <a:ahLst/>
            <a:cxnLst/>
            <a:rect l="l" t="t" r="r" b="b"/>
            <a:pathLst>
              <a:path w="10887075" h="4505325">
                <a:moveTo>
                  <a:pt x="0" y="0"/>
                </a:moveTo>
                <a:lnTo>
                  <a:pt x="10887075" y="0"/>
                </a:lnTo>
                <a:lnTo>
                  <a:pt x="108870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572625" y="8353425"/>
            <a:ext cx="1752600" cy="866775"/>
          </a:xfrm>
          <a:custGeom>
            <a:avLst/>
            <a:gdLst/>
            <a:ahLst/>
            <a:cxnLst/>
            <a:rect l="l" t="t" r="r" b="b"/>
            <a:pathLst>
              <a:path w="1752600" h="866775">
                <a:moveTo>
                  <a:pt x="0" y="0"/>
                </a:moveTo>
                <a:lnTo>
                  <a:pt x="1752600" y="0"/>
                </a:lnTo>
                <a:lnTo>
                  <a:pt x="1752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93392" y="2803661"/>
            <a:ext cx="8046720" cy="364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25"/>
              </a:lnSpc>
            </a:pPr>
            <a:r>
              <a:rPr lang="en-US" sz="1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Ciencia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3392" y="6547318"/>
            <a:ext cx="6473952" cy="751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0"/>
              </a:lnSpc>
            </a:pPr>
            <a:r>
              <a:rPr lang="en-US" sz="4171">
                <a:solidFill>
                  <a:srgbClr val="E61E17"/>
                </a:solidFill>
                <a:latin typeface="Poppins"/>
                <a:ea typeface="Poppins"/>
                <a:cs typeface="Poppins"/>
                <a:sym typeface="Poppins"/>
              </a:rPr>
              <a:t>2.1 Laboratorio Practico</a:t>
            </a:r>
          </a:p>
        </p:txBody>
      </p:sp>
      <p:sp>
        <p:nvSpPr>
          <p:cNvPr id="8" name="Freeform 8"/>
          <p:cNvSpPr/>
          <p:nvPr/>
        </p:nvSpPr>
        <p:spPr>
          <a:xfrm>
            <a:off x="428625" y="8034338"/>
            <a:ext cx="447675" cy="1076325"/>
          </a:xfrm>
          <a:custGeom>
            <a:avLst/>
            <a:gdLst/>
            <a:ahLst/>
            <a:cxnLst/>
            <a:rect l="l" t="t" r="r" b="b"/>
            <a:pathLst>
              <a:path w="447675" h="1076325">
                <a:moveTo>
                  <a:pt x="0" y="0"/>
                </a:moveTo>
                <a:lnTo>
                  <a:pt x="447675" y="0"/>
                </a:lnTo>
                <a:lnTo>
                  <a:pt x="447675" y="1076324"/>
                </a:lnTo>
                <a:lnTo>
                  <a:pt x="0" y="1076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50976" y="8246070"/>
            <a:ext cx="4279392" cy="56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31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EQUIPO: B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753850" y="1495425"/>
            <a:ext cx="4581525" cy="3438525"/>
          </a:xfrm>
          <a:custGeom>
            <a:avLst/>
            <a:gdLst/>
            <a:ahLst/>
            <a:cxnLst/>
            <a:rect l="l" t="t" r="r" b="b"/>
            <a:pathLst>
              <a:path w="4581525" h="3438525">
                <a:moveTo>
                  <a:pt x="0" y="0"/>
                </a:moveTo>
                <a:lnTo>
                  <a:pt x="4581525" y="0"/>
                </a:lnTo>
                <a:lnTo>
                  <a:pt x="45815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795760" y="4535341"/>
            <a:ext cx="4553712" cy="188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21"/>
              </a:lnSpc>
            </a:pPr>
            <a:r>
              <a:rPr lang="en-US" sz="10658" b="1">
                <a:solidFill>
                  <a:srgbClr val="E61E17"/>
                </a:solidFill>
                <a:latin typeface="Hagrid Heavy"/>
                <a:ea typeface="Hagrid Heavy"/>
                <a:cs typeface="Hagrid Heavy"/>
                <a:sym typeface="Hagrid Heavy"/>
              </a:rPr>
              <a:t>ITSAV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5760" y="6216959"/>
            <a:ext cx="4297680" cy="53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2"/>
              </a:lnSpc>
            </a:pPr>
            <a:r>
              <a:rPr lang="en-US" sz="2076" b="1" spc="103">
                <a:solidFill>
                  <a:srgbClr val="00000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INSTITUTO TECNOLÓGICO SUPERIOR DE ALVARADO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20288" y="4489585"/>
            <a:ext cx="219456" cy="41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1"/>
              </a:lnSpc>
            </a:pPr>
            <a:r>
              <a:rPr lang="en-US" sz="2315" b="1">
                <a:solidFill>
                  <a:srgbClr val="E61E17"/>
                </a:solidFill>
                <a:latin typeface="Hagrid Heavy"/>
                <a:ea typeface="Hagrid Heavy"/>
                <a:cs typeface="Hagrid Heavy"/>
                <a:sym typeface="Hagrid Heavy"/>
              </a:rPr>
              <a:t>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90672" y="7721714"/>
            <a:ext cx="5783966" cy="1653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628" lvl="1" indent="-271814" algn="l">
              <a:lnSpc>
                <a:spcPts val="3273"/>
              </a:lnSpc>
              <a:buFont typeface="Arial"/>
              <a:buChar char="•"/>
            </a:pPr>
            <a:r>
              <a:rPr lang="en-US" sz="25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Arturo Obed Velazque Tellez</a:t>
            </a:r>
          </a:p>
          <a:p>
            <a:pPr marL="543628" lvl="1" indent="-271814" algn="l">
              <a:lnSpc>
                <a:spcPts val="3273"/>
              </a:lnSpc>
              <a:buFont typeface="Arial"/>
              <a:buChar char="•"/>
            </a:pPr>
            <a:r>
              <a:rPr lang="en-US" sz="25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Angel de Jesús González Molina</a:t>
            </a:r>
          </a:p>
          <a:p>
            <a:pPr marL="543628" lvl="1" indent="-271814" algn="l">
              <a:lnSpc>
                <a:spcPts val="3273"/>
              </a:lnSpc>
              <a:buFont typeface="Arial"/>
              <a:buChar char="•"/>
            </a:pPr>
            <a:r>
              <a:rPr lang="en-US" sz="25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Antonia Martínez Santos</a:t>
            </a:r>
          </a:p>
          <a:p>
            <a:pPr marL="543628" lvl="1" indent="-271814" algn="l">
              <a:lnSpc>
                <a:spcPts val="3273"/>
              </a:lnSpc>
              <a:buFont typeface="Arial"/>
              <a:buChar char="•"/>
            </a:pPr>
            <a:r>
              <a:rPr lang="en-US" sz="25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José Carlos Hernandez Ballado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2400300" cy="1933575"/>
          </a:xfrm>
          <a:custGeom>
            <a:avLst/>
            <a:gdLst/>
            <a:ahLst/>
            <a:cxnLst/>
            <a:rect l="l" t="t" r="r" b="b"/>
            <a:pathLst>
              <a:path w="2400300" h="1933575">
                <a:moveTo>
                  <a:pt x="0" y="0"/>
                </a:moveTo>
                <a:lnTo>
                  <a:pt x="2400300" y="0"/>
                </a:lnTo>
                <a:lnTo>
                  <a:pt x="2400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85850" y="209550"/>
            <a:ext cx="1095375" cy="1295400"/>
          </a:xfrm>
          <a:custGeom>
            <a:avLst/>
            <a:gdLst/>
            <a:ahLst/>
            <a:cxnLst/>
            <a:rect l="l" t="t" r="r" b="b"/>
            <a:pathLst>
              <a:path w="1095375" h="1295400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04288" y="433792"/>
            <a:ext cx="1901952" cy="713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0"/>
              </a:lnSpc>
            </a:pPr>
            <a:r>
              <a:rPr lang="en-US" sz="4171" b="1">
                <a:solidFill>
                  <a:srgbClr val="D10000"/>
                </a:solidFill>
                <a:latin typeface="Cosmic Octo Bold"/>
                <a:ea typeface="Cosmic Octo Bold"/>
                <a:cs typeface="Cosmic Octo Bold"/>
                <a:sym typeface="Cosmic Octo Bold"/>
              </a:rPr>
              <a:t>ITSAV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04288" y="1179004"/>
            <a:ext cx="175564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2"/>
              </a:lnSpc>
            </a:pPr>
            <a:r>
              <a:rPr lang="en-US" sz="993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INSTITUTO TECNOLÓGICO SUPERIOR DE ALVARADO</a:t>
            </a:r>
          </a:p>
        </p:txBody>
      </p:sp>
      <p:sp>
        <p:nvSpPr>
          <p:cNvPr id="7" name="Freeform 7"/>
          <p:cNvSpPr/>
          <p:nvPr/>
        </p:nvSpPr>
        <p:spPr>
          <a:xfrm>
            <a:off x="16973550" y="0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73550" y="857250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7715250"/>
            <a:ext cx="18288000" cy="2571750"/>
          </a:xfrm>
          <a:custGeom>
            <a:avLst/>
            <a:gdLst/>
            <a:ahLst/>
            <a:cxnLst/>
            <a:rect l="l" t="t" r="r" b="b"/>
            <a:pathLst>
              <a:path w="18288000" h="2571750">
                <a:moveTo>
                  <a:pt x="0" y="0"/>
                </a:moveTo>
                <a:lnTo>
                  <a:pt x="18288000" y="0"/>
                </a:lnTo>
                <a:lnTo>
                  <a:pt x="182880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900112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888003" y="2298156"/>
            <a:ext cx="5085547" cy="430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3"/>
              </a:lnSpc>
            </a:pPr>
            <a:r>
              <a:rPr lang="en-US" sz="2221" b="1">
                <a:solidFill>
                  <a:srgbClr val="18208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Proyecto 7 - Visualización con Pandas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88003" y="2803594"/>
            <a:ext cx="4315968" cy="118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00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Creamos gráficas para comparar países y observar cómo cambian sus datos con el tiempo.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485923" y="23622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888003" y="4556123"/>
            <a:ext cx="4561996" cy="430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3"/>
              </a:lnSpc>
            </a:pPr>
            <a:r>
              <a:rPr lang="en-US" sz="2221" b="1">
                <a:solidFill>
                  <a:srgbClr val="D1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Proyecto 8 Gráficas con Seaborn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88003" y="5077021"/>
            <a:ext cx="4754880" cy="118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00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Exploramos la distribución de los datos y las relaciones entre variables, como PIB y esperanza de vida.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752748" y="6429375"/>
            <a:ext cx="6534150" cy="3857625"/>
          </a:xfrm>
          <a:custGeom>
            <a:avLst/>
            <a:gdLst/>
            <a:ahLst/>
            <a:cxnLst/>
            <a:rect l="l" t="t" r="r" b="b"/>
            <a:pathLst>
              <a:path w="6534150" h="3857625">
                <a:moveTo>
                  <a:pt x="0" y="0"/>
                </a:moveTo>
                <a:lnTo>
                  <a:pt x="6534150" y="0"/>
                </a:lnTo>
                <a:lnTo>
                  <a:pt x="653415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485923" y="6998208"/>
            <a:ext cx="1095375" cy="1295400"/>
          </a:xfrm>
          <a:custGeom>
            <a:avLst/>
            <a:gdLst/>
            <a:ahLst/>
            <a:cxnLst/>
            <a:rect l="l" t="t" r="r" b="b"/>
            <a:pathLst>
              <a:path w="1095375" h="1295400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888003" y="6865584"/>
            <a:ext cx="4812859" cy="430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3"/>
              </a:lnSpc>
            </a:pPr>
            <a:r>
              <a:rPr lang="en-US" sz="2221" b="1">
                <a:solidFill>
                  <a:srgbClr val="18208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Preparación para Machine Learning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88003" y="7393138"/>
            <a:ext cx="4224528" cy="114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7"/>
              </a:lnSpc>
            </a:pPr>
            <a:r>
              <a:rPr lang="en-US" sz="1935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Transformamos y escalamos las variables para que los datos puedan usarse en un modelo.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0642" y="2237407"/>
            <a:ext cx="6309360" cy="296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769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Que conjunto de datos usamos?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7218" y="5493270"/>
            <a:ext cx="7656782" cy="117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20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Usamos un mismo conjunto de datos para mostrar tres etapas: Visualizar la información, analizarla y prepararla para </a:t>
            </a:r>
            <a:r>
              <a:rPr lang="en-US" sz="2202" i="1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Machine Learning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485923" y="4559082"/>
            <a:ext cx="1095375" cy="857250"/>
          </a:xfrm>
          <a:custGeom>
            <a:avLst/>
            <a:gdLst/>
            <a:ahLst/>
            <a:cxnLst/>
            <a:rect l="l" t="t" r="r" b="b"/>
            <a:pathLst>
              <a:path w="1095375" h="857250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87218" y="6874014"/>
            <a:ext cx="6915979" cy="198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00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El archivo </a:t>
            </a:r>
            <a:r>
              <a:rPr lang="en-US" sz="2002">
                <a:solidFill>
                  <a:srgbClr val="182089"/>
                </a:solidFill>
                <a:latin typeface="Public Sans"/>
                <a:ea typeface="Public Sans"/>
                <a:cs typeface="Public Sans"/>
                <a:sym typeface="Public Sans"/>
              </a:rPr>
              <a:t>Gapminder_full.csv </a:t>
            </a:r>
          </a:p>
          <a:p>
            <a:pPr marL="432390" lvl="1" indent="-216195" algn="l">
              <a:lnSpc>
                <a:spcPts val="3204"/>
              </a:lnSpc>
              <a:buFont typeface="Arial"/>
              <a:buChar char="•"/>
            </a:pPr>
            <a:r>
              <a:rPr lang="en-US" sz="200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Fuente:</a:t>
            </a:r>
          </a:p>
          <a:p>
            <a:pPr algn="l">
              <a:lnSpc>
                <a:spcPts val="3204"/>
              </a:lnSpc>
            </a:pPr>
            <a:r>
              <a:rPr lang="en-US" sz="2002">
                <a:solidFill>
                  <a:srgbClr val="182089"/>
                </a:solidFill>
                <a:latin typeface="Public Sans"/>
                <a:ea typeface="Public Sans"/>
                <a:cs typeface="Public Sans"/>
                <a:sym typeface="Public Sans"/>
              </a:rPr>
              <a:t>https://www.kaggle.com/datasets/tklimonova/gapminder-datacamp-2007</a:t>
            </a:r>
          </a:p>
          <a:p>
            <a:pPr algn="l">
              <a:lnSpc>
                <a:spcPts val="3204"/>
              </a:lnSpc>
            </a:pPr>
            <a:endParaRPr lang="en-US" sz="2002">
              <a:solidFill>
                <a:srgbClr val="18208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314450" cy="10287000"/>
          </a:xfrm>
          <a:custGeom>
            <a:avLst/>
            <a:gdLst/>
            <a:ahLst/>
            <a:cxnLst/>
            <a:rect l="l" t="t" r="r" b="b"/>
            <a:pathLst>
              <a:path w="1314450" h="10287000">
                <a:moveTo>
                  <a:pt x="0" y="0"/>
                </a:moveTo>
                <a:lnTo>
                  <a:pt x="1314450" y="0"/>
                </a:lnTo>
                <a:lnTo>
                  <a:pt x="1314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4572000" cy="3219450"/>
          </a:xfrm>
          <a:custGeom>
            <a:avLst/>
            <a:gdLst/>
            <a:ahLst/>
            <a:cxnLst/>
            <a:rect l="l" t="t" r="r" b="b"/>
            <a:pathLst>
              <a:path w="4572000" h="3219450">
                <a:moveTo>
                  <a:pt x="0" y="0"/>
                </a:moveTo>
                <a:lnTo>
                  <a:pt x="4572000" y="0"/>
                </a:lnTo>
                <a:lnTo>
                  <a:pt x="45720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4925" y="6381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29850" y="0"/>
            <a:ext cx="8058150" cy="4286250"/>
          </a:xfrm>
          <a:custGeom>
            <a:avLst/>
            <a:gdLst/>
            <a:ahLst/>
            <a:cxnLst/>
            <a:rect l="l" t="t" r="r" b="b"/>
            <a:pathLst>
              <a:path w="8058150" h="4286250">
                <a:moveTo>
                  <a:pt x="0" y="0"/>
                </a:moveTo>
                <a:lnTo>
                  <a:pt x="8058150" y="0"/>
                </a:lnTo>
                <a:lnTo>
                  <a:pt x="805815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06775" y="7286625"/>
            <a:ext cx="2181225" cy="3000375"/>
          </a:xfrm>
          <a:custGeom>
            <a:avLst/>
            <a:gdLst/>
            <a:ahLst/>
            <a:cxnLst/>
            <a:rect l="l" t="t" r="r" b="b"/>
            <a:pathLst>
              <a:path w="2181225" h="3000375">
                <a:moveTo>
                  <a:pt x="0" y="0"/>
                </a:moveTo>
                <a:lnTo>
                  <a:pt x="2181225" y="0"/>
                </a:lnTo>
                <a:lnTo>
                  <a:pt x="218122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aphicFrame>
        <p:nvGraphicFramePr>
          <p:cNvPr id="8" name="Object 8"/>
          <p:cNvGraphicFramePr/>
          <p:nvPr>
            <p:extLst>
              <p:ext uri="{D42A27DB-BD31-4B8C-83A1-F6EECF244321}">
                <p14:modId xmlns:p14="http://schemas.microsoft.com/office/powerpoint/2010/main" val="1887281703"/>
              </p:ext>
            </p:extLst>
          </p:nvPr>
        </p:nvGraphicFramePr>
        <p:xfrm>
          <a:off x="7523604" y="4803079"/>
          <a:ext cx="12931166" cy="3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Worksheet" r:id="rId9" imgW="13576300" imgH="3517900" progId="Excel.Sheet.12">
                  <p:embed/>
                </p:oleObj>
              </mc:Choice>
              <mc:Fallback>
                <p:oleObj name="Worksheet" r:id="rId9" imgW="13576300" imgH="3517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23604" y="4803079"/>
                        <a:ext cx="12931166" cy="3900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743075" y="1991459"/>
            <a:ext cx="6565392" cy="261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7"/>
              </a:lnSpc>
            </a:pPr>
            <a:r>
              <a:rPr lang="en-US" sz="75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¿Qué contiene Gapminder?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3075" y="4803079"/>
            <a:ext cx="6144768" cy="22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2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Gapminder reúne datos de distintos países a lo largo del tiempo. Nos permite comparar su población, esperanza de vida y PIB por habitante, e identificar a qué continente pertenece cada uno.</a:t>
            </a:r>
          </a:p>
          <a:p>
            <a:pPr algn="l">
              <a:lnSpc>
                <a:spcPts val="2941"/>
              </a:lnSpc>
            </a:pPr>
            <a:endParaRPr lang="en-US" sz="226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551408" y="9094113"/>
            <a:ext cx="2651760" cy="741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8"/>
              </a:lnSpc>
            </a:pPr>
            <a:r>
              <a:rPr lang="en-US" sz="5578">
                <a:solidFill>
                  <a:srgbClr val="E91F26"/>
                </a:solidFill>
                <a:latin typeface="Monument Bold"/>
                <a:ea typeface="Monument Bold"/>
                <a:cs typeface="Monument Bold"/>
                <a:sym typeface="Monument Bold"/>
              </a:rPr>
              <a:t>ITSAV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51408" y="9752362"/>
            <a:ext cx="2487168" cy="296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"/>
              </a:lnSpc>
            </a:pPr>
            <a:r>
              <a:rPr lang="en-US" sz="1162">
                <a:solidFill>
                  <a:srgbClr val="000000"/>
                </a:solidFill>
                <a:latin typeface="Monument Bold"/>
                <a:ea typeface="Monument Bold"/>
                <a:cs typeface="Monument Bold"/>
                <a:sym typeface="Monument Bold"/>
              </a:rPr>
              <a:t>INSTITUTO TECNOLOGICO SUPERIOR DE ALVARADO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3075" y="7012721"/>
            <a:ext cx="5757148" cy="38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  <a:spcBef>
                <a:spcPct val="0"/>
              </a:spcBef>
            </a:pPr>
            <a:r>
              <a:rPr lang="en-US" sz="23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Una fila = un país en un año especifico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69218" y="8054816"/>
            <a:ext cx="4605814" cy="1244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628" lvl="1" indent="-271814" algn="l">
              <a:lnSpc>
                <a:spcPts val="3273"/>
              </a:lnSpc>
              <a:buFont typeface="Arial"/>
              <a:buChar char="•"/>
            </a:pPr>
            <a:r>
              <a:rPr lang="en-US" sz="2517" b="1">
                <a:solidFill>
                  <a:srgbClr val="E91F26"/>
                </a:solidFill>
                <a:latin typeface="Poppins Bold"/>
                <a:ea typeface="Poppins Bold"/>
                <a:cs typeface="Poppins Bold"/>
                <a:sym typeface="Poppins Bold"/>
              </a:rPr>
              <a:t>1,704 registros</a:t>
            </a:r>
          </a:p>
          <a:p>
            <a:pPr marL="543628" lvl="1" indent="-271814" algn="l">
              <a:lnSpc>
                <a:spcPts val="3273"/>
              </a:lnSpc>
              <a:buFont typeface="Arial"/>
              <a:buChar char="•"/>
            </a:pPr>
            <a:r>
              <a:rPr lang="en-US" sz="2517" b="1">
                <a:solidFill>
                  <a:srgbClr val="E91F26"/>
                </a:solidFill>
                <a:latin typeface="Poppins Bold"/>
                <a:ea typeface="Poppins Bold"/>
                <a:cs typeface="Poppins Bold"/>
                <a:sym typeface="Poppins Bold"/>
              </a:rPr>
              <a:t>142 paises</a:t>
            </a:r>
          </a:p>
          <a:p>
            <a:pPr marL="543628" lvl="1" indent="-271814" algn="l">
              <a:lnSpc>
                <a:spcPts val="3273"/>
              </a:lnSpc>
              <a:buFont typeface="Arial"/>
              <a:buChar char="•"/>
            </a:pPr>
            <a:r>
              <a:rPr lang="en-US" sz="2517" b="1">
                <a:solidFill>
                  <a:srgbClr val="E91F26"/>
                </a:solidFill>
                <a:latin typeface="Poppins Bold"/>
                <a:ea typeface="Poppins Bold"/>
                <a:cs typeface="Poppins Bold"/>
                <a:sym typeface="Poppins Bold"/>
              </a:rPr>
              <a:t>desde el año 1952 al 2007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21382" y="4713764"/>
            <a:ext cx="1880354" cy="54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3"/>
              </a:lnSpc>
              <a:spcBef>
                <a:spcPct val="0"/>
              </a:spcBef>
            </a:pPr>
            <a:r>
              <a:rPr lang="en-US" sz="31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857625"/>
            <a:ext cx="1524000" cy="3000375"/>
          </a:xfrm>
          <a:custGeom>
            <a:avLst/>
            <a:gdLst/>
            <a:ahLst/>
            <a:cxnLst/>
            <a:rect l="l" t="t" r="r" b="b"/>
            <a:pathLst>
              <a:path w="1524000" h="3000375">
                <a:moveTo>
                  <a:pt x="0" y="0"/>
                </a:moveTo>
                <a:lnTo>
                  <a:pt x="1524000" y="0"/>
                </a:lnTo>
                <a:lnTo>
                  <a:pt x="15240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9550" y="428625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10512" y="689711"/>
            <a:ext cx="2523744" cy="759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5978" b="1">
                <a:solidFill>
                  <a:srgbClr val="D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ITSAV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0" y="1369076"/>
            <a:ext cx="2322576" cy="26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6"/>
              </a:lnSpc>
            </a:pPr>
            <a:r>
              <a:rPr lang="en-US" sz="1162" b="1" spc="5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INSTITUTO TECNOLÓGICO SUPERIOR DE ALVARADO</a:t>
            </a:r>
          </a:p>
        </p:txBody>
      </p:sp>
      <p:sp>
        <p:nvSpPr>
          <p:cNvPr id="7" name="Freeform 7"/>
          <p:cNvSpPr/>
          <p:nvPr/>
        </p:nvSpPr>
        <p:spPr>
          <a:xfrm>
            <a:off x="17192625" y="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192625" y="857250"/>
            <a:ext cx="1095375" cy="1285875"/>
          </a:xfrm>
          <a:custGeom>
            <a:avLst/>
            <a:gdLst/>
            <a:ahLst/>
            <a:cxnLst/>
            <a:rect l="l" t="t" r="r" b="b"/>
            <a:pathLst>
              <a:path w="1095375" h="12858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47088" y="4610289"/>
            <a:ext cx="768096" cy="71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8"/>
              </a:lnSpc>
            </a:pPr>
            <a:r>
              <a:rPr lang="en-US" sz="5605" b="1">
                <a:solidFill>
                  <a:srgbClr val="D00000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10" name="Freeform 10"/>
          <p:cNvSpPr/>
          <p:nvPr/>
        </p:nvSpPr>
        <p:spPr>
          <a:xfrm>
            <a:off x="2902077" y="458145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584448" y="4402981"/>
            <a:ext cx="5214834" cy="43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20206A"/>
                </a:solidFill>
                <a:latin typeface="Poppins Bold"/>
                <a:ea typeface="Poppins Bold"/>
                <a:cs typeface="Poppins Bold"/>
                <a:sym typeface="Poppins Bold"/>
              </a:rPr>
              <a:t>Ver cambios entre paises y años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4448" y="4889804"/>
            <a:ext cx="5073251" cy="11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5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Usamos gráficas de líneas y dispersión para comparar países y observar cambios entre 1952 y 2007.</a:t>
            </a:r>
          </a:p>
          <a:p>
            <a:pPr algn="l">
              <a:lnSpc>
                <a:spcPts val="2218"/>
              </a:lnSpc>
            </a:pPr>
            <a:endParaRPr lang="en-US" sz="15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10512" y="6215061"/>
            <a:ext cx="877824" cy="71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8"/>
              </a:lnSpc>
            </a:pPr>
            <a:r>
              <a:rPr lang="en-US" sz="5605" b="1">
                <a:solidFill>
                  <a:srgbClr val="20206A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  <p:sp>
        <p:nvSpPr>
          <p:cNvPr id="14" name="Freeform 14"/>
          <p:cNvSpPr/>
          <p:nvPr/>
        </p:nvSpPr>
        <p:spPr>
          <a:xfrm>
            <a:off x="2902077" y="629595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584448" y="6007753"/>
            <a:ext cx="5559552" cy="43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D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Explorar distribuciones y relaciones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84448" y="6607733"/>
            <a:ext cx="5073251" cy="83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5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Analizamos cómo se distribuye la esperanza de vida y qué relación tiene con el PIB por habitante.</a:t>
            </a:r>
          </a:p>
          <a:p>
            <a:pPr algn="l">
              <a:lnSpc>
                <a:spcPts val="2218"/>
              </a:lnSpc>
            </a:pPr>
            <a:endParaRPr lang="en-US" sz="15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10512" y="8084462"/>
            <a:ext cx="877824" cy="698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9"/>
              </a:lnSpc>
            </a:pPr>
            <a:r>
              <a:rPr lang="en-US" sz="5487" b="1">
                <a:solidFill>
                  <a:srgbClr val="D00000"/>
                </a:solidFill>
                <a:latin typeface="Poppins Bold"/>
                <a:ea typeface="Poppins Bold"/>
                <a:cs typeface="Poppins Bold"/>
                <a:sym typeface="Poppins Bold"/>
              </a:rPr>
              <a:t>9</a:t>
            </a:r>
          </a:p>
        </p:txBody>
      </p:sp>
      <p:sp>
        <p:nvSpPr>
          <p:cNvPr id="18" name="Freeform 18"/>
          <p:cNvSpPr/>
          <p:nvPr/>
        </p:nvSpPr>
        <p:spPr>
          <a:xfrm>
            <a:off x="2902077" y="822000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584448" y="8469680"/>
            <a:ext cx="5073251" cy="11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5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Escalamos los datos numéricos y convertimos el continente de texto a números para preparar la información para un modelo.</a:t>
            </a:r>
          </a:p>
          <a:p>
            <a:pPr algn="l">
              <a:lnSpc>
                <a:spcPts val="2218"/>
              </a:lnSpc>
            </a:pPr>
            <a:endParaRPr lang="en-US" sz="158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938528" y="2250546"/>
            <a:ext cx="7534656" cy="1789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676" b="1">
                <a:solidFill>
                  <a:srgbClr val="20206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recorrido del equipo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3184" y="4640485"/>
            <a:ext cx="7205472" cy="1222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Trabajamos con el mismo archivo Gapminder en tres etapas: primero visualizamos los datos, después buscamos patrones y finalmente los preparamos para machine learning.</a:t>
            </a:r>
          </a:p>
          <a:p>
            <a:pPr algn="l">
              <a:lnSpc>
                <a:spcPts val="2467"/>
              </a:lnSpc>
            </a:pPr>
            <a:endParaRPr lang="en-US" sz="176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9968451" y="5991225"/>
            <a:ext cx="3057525" cy="3219450"/>
          </a:xfrm>
          <a:custGeom>
            <a:avLst/>
            <a:gdLst/>
            <a:ahLst/>
            <a:cxnLst/>
            <a:rect l="l" t="t" r="r" b="b"/>
            <a:pathLst>
              <a:path w="3057525" h="3219450">
                <a:moveTo>
                  <a:pt x="0" y="0"/>
                </a:moveTo>
                <a:lnTo>
                  <a:pt x="3057525" y="0"/>
                </a:lnTo>
                <a:lnTo>
                  <a:pt x="30575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797376" y="5991225"/>
            <a:ext cx="3276600" cy="3219450"/>
          </a:xfrm>
          <a:custGeom>
            <a:avLst/>
            <a:gdLst/>
            <a:ahLst/>
            <a:cxnLst/>
            <a:rect l="l" t="t" r="r" b="b"/>
            <a:pathLst>
              <a:path w="3276600" h="3219450">
                <a:moveTo>
                  <a:pt x="0" y="0"/>
                </a:moveTo>
                <a:lnTo>
                  <a:pt x="3276600" y="0"/>
                </a:lnTo>
                <a:lnTo>
                  <a:pt x="3276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635826" y="5991225"/>
            <a:ext cx="1524000" cy="1504950"/>
          </a:xfrm>
          <a:custGeom>
            <a:avLst/>
            <a:gdLst/>
            <a:ahLst/>
            <a:cxnLst/>
            <a:rect l="l" t="t" r="r" b="b"/>
            <a:pathLst>
              <a:path w="1524000" h="1504950">
                <a:moveTo>
                  <a:pt x="0" y="0"/>
                </a:moveTo>
                <a:lnTo>
                  <a:pt x="1524000" y="0"/>
                </a:lnTo>
                <a:lnTo>
                  <a:pt x="1524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0" y="8143875"/>
            <a:ext cx="1095375" cy="1285875"/>
          </a:xfrm>
          <a:custGeom>
            <a:avLst/>
            <a:gdLst/>
            <a:ahLst/>
            <a:cxnLst/>
            <a:rect l="l" t="t" r="r" b="b"/>
            <a:pathLst>
              <a:path w="1095375" h="12858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0" y="92106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584448" y="7869700"/>
            <a:ext cx="6136353" cy="43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20206A"/>
                </a:solidFill>
                <a:latin typeface="Poppins Bold"/>
                <a:ea typeface="Poppins Bold"/>
                <a:cs typeface="Poppins Bold"/>
                <a:sym typeface="Poppins Bold"/>
              </a:rPr>
              <a:t>Preparar las columnas para un modelo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51376" y="529852"/>
            <a:ext cx="182880" cy="16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965" b="1">
                <a:solidFill>
                  <a:srgbClr val="20206A"/>
                </a:solidFill>
                <a:latin typeface="Poppins Bold"/>
                <a:ea typeface="Poppins Bold"/>
                <a:cs typeface="Poppins Bold"/>
                <a:sym typeface="Poppins Bold"/>
              </a:rPr>
              <a:t>R&amp;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625" y="2095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57550" y="4286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1046" y="8568803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02313" y="8948505"/>
            <a:ext cx="6711696" cy="99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1907" b="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Cambiamos poblacion por esperanza de vida y seleccionamos 5 paises. </a:t>
            </a:r>
            <a:r>
              <a:rPr lang="en-US" sz="190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pivot()</a:t>
            </a:r>
            <a:r>
              <a:rPr lang="en-US" sz="1907" b="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acomoda los años en filas y los países en columnas; </a:t>
            </a:r>
            <a:r>
              <a:rPr lang="en-US" sz="190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plot(kind='line')</a:t>
            </a:r>
            <a:r>
              <a:rPr lang="en-US" sz="1907" b="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 dibuja las líneas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8143875"/>
            <a:ext cx="1962150" cy="2143125"/>
          </a:xfrm>
          <a:custGeom>
            <a:avLst/>
            <a:gdLst/>
            <a:ahLst/>
            <a:cxnLst/>
            <a:rect l="l" t="t" r="r" b="b"/>
            <a:pathLst>
              <a:path w="1962150" h="2143125">
                <a:moveTo>
                  <a:pt x="0" y="0"/>
                </a:moveTo>
                <a:lnTo>
                  <a:pt x="1962150" y="0"/>
                </a:lnTo>
                <a:lnTo>
                  <a:pt x="1962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4925" y="9210675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582775" y="9001125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87700" y="900112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73550" y="8782050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54480" y="305876"/>
            <a:ext cx="1664208" cy="80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4644" b="1">
                <a:solidFill>
                  <a:srgbClr val="D1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ITSAV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29584" y="485918"/>
            <a:ext cx="2761488" cy="47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68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INSTITUTO TECNOLÓGICO SUPERIOR DE ALVARADO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4925" y="1721523"/>
            <a:ext cx="5614631" cy="1077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58"/>
              </a:lnSpc>
              <a:spcBef>
                <a:spcPct val="0"/>
              </a:spcBef>
            </a:pPr>
            <a:r>
              <a:rPr lang="en-US" sz="6660" b="1">
                <a:solidFill>
                  <a:srgbClr val="182864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PROYECTO 7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4925" y="3094266"/>
            <a:ext cx="7909084" cy="593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3"/>
              </a:lnSpc>
              <a:spcBef>
                <a:spcPct val="0"/>
              </a:spcBef>
            </a:pPr>
            <a:r>
              <a:rPr lang="en-US" sz="35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 ejemplo del curso a Gapminder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81225" y="4308703"/>
            <a:ext cx="5168500" cy="834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Código original del curso (Frank Andrade / ThePyCoach)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8210" y="5489803"/>
            <a:ext cx="6714530" cy="2444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df_pivot = df_population_raw.pivot(</a:t>
            </a:r>
          </a:p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index='year', columns='country',</a:t>
            </a:r>
          </a:p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values='population'</a:t>
            </a:r>
          </a:p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</a:p>
          <a:p>
            <a:pPr algn="l">
              <a:lnSpc>
                <a:spcPts val="3273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df_pivot.plot(kind='line')</a:t>
            </a:r>
          </a:p>
          <a:p>
            <a:pPr algn="l">
              <a:lnSpc>
                <a:spcPts val="3273"/>
              </a:lnSpc>
              <a:spcBef>
                <a:spcPct val="0"/>
              </a:spcBef>
            </a:pPr>
            <a:endParaRPr lang="en-US" sz="2517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144000" y="5278684"/>
            <a:ext cx="0" cy="2655641"/>
          </a:xfrm>
          <a:prstGeom prst="line">
            <a:avLst/>
          </a:prstGeom>
          <a:ln w="38100" cap="flat">
            <a:solidFill>
              <a:srgbClr val="E91F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376425" y="4308703"/>
            <a:ext cx="5168500" cy="42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 nuestra adaptación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11485" y="5489803"/>
            <a:ext cx="4788988" cy="3374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3"/>
              </a:lnSpc>
              <a:spcBef>
                <a:spcPct val="0"/>
              </a:spcBef>
            </a:pPr>
            <a:r>
              <a:rPr lang="en-US" sz="2517" dirty="0" err="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tabla</a:t>
            </a: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2517" dirty="0" err="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df.pivot</a:t>
            </a: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</a:p>
          <a:p>
            <a:pPr algn="l">
              <a:lnSpc>
                <a:spcPts val="3273"/>
              </a:lnSpc>
              <a:spcBef>
                <a:spcPct val="0"/>
              </a:spcBef>
            </a:pP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index='year', columns='country',</a:t>
            </a:r>
          </a:p>
          <a:p>
            <a:pPr algn="l">
              <a:lnSpc>
                <a:spcPts val="3273"/>
              </a:lnSpc>
              <a:spcBef>
                <a:spcPct val="0"/>
              </a:spcBef>
            </a:pP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values='</a:t>
            </a:r>
            <a:r>
              <a:rPr lang="en-US" sz="2517" dirty="0" err="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life_exp</a:t>
            </a: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'</a:t>
            </a:r>
          </a:p>
          <a:p>
            <a:pPr algn="l">
              <a:lnSpc>
                <a:spcPts val="3273"/>
              </a:lnSpc>
              <a:spcBef>
                <a:spcPct val="0"/>
              </a:spcBef>
            </a:pP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</a:p>
          <a:p>
            <a:pPr algn="l">
              <a:lnSpc>
                <a:spcPts val="3273"/>
              </a:lnSpc>
              <a:spcBef>
                <a:spcPct val="0"/>
              </a:spcBef>
            </a:pPr>
            <a:r>
              <a:rPr lang="en-US" sz="2517" dirty="0" err="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tabla.plot</a:t>
            </a: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(kind='line')</a:t>
            </a:r>
          </a:p>
          <a:p>
            <a:pPr algn="just">
              <a:lnSpc>
                <a:spcPts val="3273"/>
              </a:lnSpc>
              <a:spcBef>
                <a:spcPct val="0"/>
              </a:spcBef>
            </a:pPr>
            <a:endParaRPr lang="en-US" sz="2517" dirty="0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l">
              <a:lnSpc>
                <a:spcPts val="3273"/>
              </a:lnSpc>
              <a:spcBef>
                <a:spcPct val="0"/>
              </a:spcBef>
            </a:pPr>
            <a:endParaRPr lang="en-US" sz="2517" dirty="0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99464" y="2730128"/>
            <a:ext cx="7839075" cy="7715250"/>
          </a:xfrm>
          <a:custGeom>
            <a:avLst/>
            <a:gdLst/>
            <a:ahLst/>
            <a:cxnLst/>
            <a:rect l="l" t="t" r="r" b="b"/>
            <a:pathLst>
              <a:path w="7839075" h="7715250">
                <a:moveTo>
                  <a:pt x="0" y="0"/>
                </a:moveTo>
                <a:lnTo>
                  <a:pt x="7839075" y="0"/>
                </a:lnTo>
                <a:lnTo>
                  <a:pt x="7839075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719138" y="5310188"/>
            <a:ext cx="5667375" cy="4286250"/>
          </a:xfrm>
          <a:custGeom>
            <a:avLst/>
            <a:gdLst/>
            <a:ahLst/>
            <a:cxnLst/>
            <a:rect l="l" t="t" r="r" b="b"/>
            <a:pathLst>
              <a:path w="5667375" h="4286250">
                <a:moveTo>
                  <a:pt x="0" y="0"/>
                </a:moveTo>
                <a:lnTo>
                  <a:pt x="5667376" y="0"/>
                </a:lnTo>
                <a:lnTo>
                  <a:pt x="5667376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8625" y="428625"/>
            <a:ext cx="1095375" cy="857250"/>
          </a:xfrm>
          <a:custGeom>
            <a:avLst/>
            <a:gdLst/>
            <a:ahLst/>
            <a:cxnLst/>
            <a:rect l="l" t="t" r="r" b="b"/>
            <a:pathLst>
              <a:path w="1095375" h="857250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257550" y="4286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192625" y="0"/>
            <a:ext cx="1095375" cy="1285875"/>
          </a:xfrm>
          <a:custGeom>
            <a:avLst/>
            <a:gdLst/>
            <a:ahLst/>
            <a:cxnLst/>
            <a:rect l="l" t="t" r="r" b="b"/>
            <a:pathLst>
              <a:path w="1095375" h="12858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144625" y="92106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011400" y="9210675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097250" y="92106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192625" y="921067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43965" y="3031374"/>
            <a:ext cx="8492006" cy="4871985"/>
          </a:xfrm>
          <a:custGeom>
            <a:avLst/>
            <a:gdLst/>
            <a:ahLst/>
            <a:cxnLst/>
            <a:rect l="l" t="t" r="r" b="b"/>
            <a:pathLst>
              <a:path w="8492006" h="4871985">
                <a:moveTo>
                  <a:pt x="0" y="0"/>
                </a:moveTo>
                <a:lnTo>
                  <a:pt x="8492006" y="0"/>
                </a:lnTo>
                <a:lnTo>
                  <a:pt x="8492006" y="4871985"/>
                </a:lnTo>
                <a:lnTo>
                  <a:pt x="0" y="48719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65592" y="3031374"/>
            <a:ext cx="8596312" cy="4991407"/>
          </a:xfrm>
          <a:custGeom>
            <a:avLst/>
            <a:gdLst/>
            <a:ahLst/>
            <a:cxnLst/>
            <a:rect l="l" t="t" r="r" b="b"/>
            <a:pathLst>
              <a:path w="8596312" h="4991407">
                <a:moveTo>
                  <a:pt x="0" y="0"/>
                </a:moveTo>
                <a:lnTo>
                  <a:pt x="8596312" y="0"/>
                </a:lnTo>
                <a:lnTo>
                  <a:pt x="8596312" y="4991407"/>
                </a:lnTo>
                <a:lnTo>
                  <a:pt x="0" y="49914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99616" y="656762"/>
            <a:ext cx="1682496" cy="5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131" b="1">
                <a:solidFill>
                  <a:srgbClr val="C8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ITSAV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93008" y="572453"/>
            <a:ext cx="309067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95" b="1">
                <a:solidFill>
                  <a:srgbClr val="2F337A"/>
                </a:solidFill>
                <a:latin typeface="Tomorrow Bold"/>
                <a:ea typeface="Tomorrow Bold"/>
                <a:cs typeface="Tomorrow Bold"/>
                <a:sym typeface="Tomorrow Bold"/>
              </a:rPr>
              <a:t>INSTITUTO TECNOLÓGICO SUPERIOR DE ALVARADO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6312" y="1854864"/>
            <a:ext cx="7388352" cy="875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3"/>
              </a:lnSpc>
            </a:pPr>
            <a:r>
              <a:rPr lang="en-US" sz="7667" b="1">
                <a:solidFill>
                  <a:srgbClr val="2F337A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PROYECTO 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8144558"/>
            <a:ext cx="9340977" cy="6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sz="21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esperanza de vida aumentó en los cinco países latinoamericanos durante el periodo analizado.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93253" y="8070580"/>
            <a:ext cx="8168651" cy="138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3"/>
              </a:lnSpc>
              <a:spcBef>
                <a:spcPct val="0"/>
              </a:spcBef>
            </a:pPr>
            <a:r>
              <a:rPr lang="en-US" sz="21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 2007, los países con mayor PIB por habitante tendían a tener mayor esperanza de vida. Es una relación observada, no una prueba de causa.</a:t>
            </a:r>
          </a:p>
          <a:p>
            <a:pPr algn="ctr">
              <a:lnSpc>
                <a:spcPts val="2753"/>
              </a:lnSpc>
              <a:spcBef>
                <a:spcPct val="0"/>
              </a:spcBef>
            </a:pPr>
            <a:endParaRPr lang="en-US" sz="2117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777877" y="1703811"/>
            <a:ext cx="8319373" cy="76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  <a:spcBef>
                <a:spcPct val="0"/>
              </a:spcBef>
            </a:pPr>
            <a:r>
              <a:rPr lang="en-US" sz="42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Dos formas de mirar los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3068300" cy="428625"/>
          </a:xfrm>
          <a:custGeom>
            <a:avLst/>
            <a:gdLst/>
            <a:ahLst/>
            <a:cxnLst/>
            <a:rect l="l" t="t" r="r" b="b"/>
            <a:pathLst>
              <a:path w="13068300" h="428625">
                <a:moveTo>
                  <a:pt x="0" y="0"/>
                </a:moveTo>
                <a:lnTo>
                  <a:pt x="13068300" y="0"/>
                </a:lnTo>
                <a:lnTo>
                  <a:pt x="13068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39700" y="0"/>
            <a:ext cx="5448300" cy="428625"/>
          </a:xfrm>
          <a:custGeom>
            <a:avLst/>
            <a:gdLst/>
            <a:ahLst/>
            <a:cxnLst/>
            <a:rect l="l" t="t" r="r" b="b"/>
            <a:pathLst>
              <a:path w="5448300" h="428625">
                <a:moveTo>
                  <a:pt x="0" y="0"/>
                </a:moveTo>
                <a:lnTo>
                  <a:pt x="5448300" y="0"/>
                </a:lnTo>
                <a:lnTo>
                  <a:pt x="5448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64000" y="209550"/>
            <a:ext cx="1524000" cy="1933575"/>
          </a:xfrm>
          <a:custGeom>
            <a:avLst/>
            <a:gdLst/>
            <a:ahLst/>
            <a:cxnLst/>
            <a:rect l="l" t="t" r="r" b="b"/>
            <a:pathLst>
              <a:path w="1524000" h="1933575">
                <a:moveTo>
                  <a:pt x="0" y="0"/>
                </a:moveTo>
                <a:lnTo>
                  <a:pt x="1524000" y="0"/>
                </a:lnTo>
                <a:lnTo>
                  <a:pt x="15240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8625" y="209550"/>
            <a:ext cx="1533525" cy="1295400"/>
          </a:xfrm>
          <a:custGeom>
            <a:avLst/>
            <a:gdLst/>
            <a:ahLst/>
            <a:cxnLst/>
            <a:rect l="l" t="t" r="r" b="b"/>
            <a:pathLst>
              <a:path w="1533525" h="1295400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75104" y="369302"/>
            <a:ext cx="1865376" cy="96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5303" b="1" spc="-212">
                <a:solidFill>
                  <a:srgbClr val="E30B00"/>
                </a:solidFill>
                <a:latin typeface="Poppins Bold"/>
                <a:ea typeface="Poppins Bold"/>
                <a:cs typeface="Poppins Bold"/>
                <a:sym typeface="Poppins Bold"/>
              </a:rPr>
              <a:t>ITSAV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75104" y="1184184"/>
            <a:ext cx="1865376" cy="28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sz="109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INSTITUTO TECNOLÓGICO SUPERIOR DE ALVARADO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7924800"/>
            <a:ext cx="9801225" cy="2362200"/>
          </a:xfrm>
          <a:custGeom>
            <a:avLst/>
            <a:gdLst/>
            <a:ahLst/>
            <a:cxnLst/>
            <a:rect l="l" t="t" r="r" b="b"/>
            <a:pathLst>
              <a:path w="9801225" h="2362200">
                <a:moveTo>
                  <a:pt x="0" y="0"/>
                </a:moveTo>
                <a:lnTo>
                  <a:pt x="9801225" y="0"/>
                </a:lnTo>
                <a:lnTo>
                  <a:pt x="9801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791700" y="5353050"/>
            <a:ext cx="8496300" cy="4933950"/>
          </a:xfrm>
          <a:custGeom>
            <a:avLst/>
            <a:gdLst/>
            <a:ahLst/>
            <a:cxnLst/>
            <a:rect l="l" t="t" r="r" b="b"/>
            <a:pathLst>
              <a:path w="8496300" h="4933950">
                <a:moveTo>
                  <a:pt x="0" y="0"/>
                </a:moveTo>
                <a:lnTo>
                  <a:pt x="8496300" y="0"/>
                </a:lnTo>
                <a:lnTo>
                  <a:pt x="8496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2091827"/>
            <a:ext cx="7388352" cy="875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3"/>
              </a:lnSpc>
            </a:pPr>
            <a:r>
              <a:rPr lang="en-US" sz="7667" b="1">
                <a:solidFill>
                  <a:srgbClr val="2F337A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PROYECTO 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388" y="3357616"/>
            <a:ext cx="6192641" cy="51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846" b="1" spc="-113">
                <a:solidFill>
                  <a:srgbClr val="18185D"/>
                </a:solidFill>
                <a:latin typeface="Poppins Bold"/>
                <a:ea typeface="Poppins Bold"/>
                <a:cs typeface="Poppins Bold"/>
                <a:sym typeface="Poppins Bold"/>
              </a:rPr>
              <a:t>Dos preguntas que respondimos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4973" y="4239938"/>
            <a:ext cx="8106120" cy="51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4637" lvl="1" indent="-307318" algn="l">
              <a:lnSpc>
                <a:spcPts val="3985"/>
              </a:lnSpc>
              <a:buFont typeface="Arial"/>
              <a:buChar char="•"/>
            </a:pPr>
            <a:r>
              <a:rPr lang="en-US" sz="2846" spc="-113">
                <a:solidFill>
                  <a:srgbClr val="18185D"/>
                </a:solidFill>
                <a:latin typeface="Poppins"/>
                <a:ea typeface="Poppins"/>
                <a:cs typeface="Poppins"/>
                <a:sym typeface="Poppins"/>
              </a:rPr>
              <a:t>¿Cómo se distribuye la esperanza de vida?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88952" y="5043927"/>
            <a:ext cx="7952184" cy="40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  <a:spcBef>
                <a:spcPct val="0"/>
              </a:spcBef>
            </a:pPr>
            <a:r>
              <a:rPr lang="en-US" sz="237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sns.histplot(data=df, x='life_exp', kde=True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4973" y="6107632"/>
            <a:ext cx="7337531" cy="51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4637" lvl="1" indent="-307318" algn="l">
              <a:lnSpc>
                <a:spcPts val="3985"/>
              </a:lnSpc>
              <a:buFont typeface="Arial"/>
              <a:buChar char="•"/>
            </a:pPr>
            <a:r>
              <a:rPr lang="en-US" sz="2846" spc="-113">
                <a:solidFill>
                  <a:srgbClr val="18185D"/>
                </a:solidFill>
                <a:latin typeface="Poppins"/>
                <a:ea typeface="Poppins"/>
                <a:cs typeface="Poppins"/>
                <a:sym typeface="Poppins"/>
              </a:rPr>
              <a:t>¿Qué variables cambian juntas?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62150" y="6911622"/>
            <a:ext cx="8132922" cy="40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  <a:spcBef>
                <a:spcPct val="0"/>
              </a:spcBef>
            </a:pPr>
            <a:r>
              <a:rPr lang="en-US" sz="237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sns.heatmap(df[variables].corr(), annot=True)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30158" y="1940774"/>
            <a:ext cx="7633692" cy="76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  <a:spcBef>
                <a:spcPct val="0"/>
              </a:spcBef>
            </a:pPr>
            <a:r>
              <a:rPr lang="en-US" sz="42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Distribuciones &amp; relaciones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3068300" cy="428625"/>
          </a:xfrm>
          <a:custGeom>
            <a:avLst/>
            <a:gdLst/>
            <a:ahLst/>
            <a:cxnLst/>
            <a:rect l="l" t="t" r="r" b="b"/>
            <a:pathLst>
              <a:path w="13068300" h="428625">
                <a:moveTo>
                  <a:pt x="0" y="0"/>
                </a:moveTo>
                <a:lnTo>
                  <a:pt x="13068300" y="0"/>
                </a:lnTo>
                <a:lnTo>
                  <a:pt x="13068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39700" y="0"/>
            <a:ext cx="5448300" cy="428625"/>
          </a:xfrm>
          <a:custGeom>
            <a:avLst/>
            <a:gdLst/>
            <a:ahLst/>
            <a:cxnLst/>
            <a:rect l="l" t="t" r="r" b="b"/>
            <a:pathLst>
              <a:path w="5448300" h="428625">
                <a:moveTo>
                  <a:pt x="0" y="0"/>
                </a:moveTo>
                <a:lnTo>
                  <a:pt x="5448300" y="0"/>
                </a:lnTo>
                <a:lnTo>
                  <a:pt x="5448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64000" y="209550"/>
            <a:ext cx="1524000" cy="1933575"/>
          </a:xfrm>
          <a:custGeom>
            <a:avLst/>
            <a:gdLst/>
            <a:ahLst/>
            <a:cxnLst/>
            <a:rect l="l" t="t" r="r" b="b"/>
            <a:pathLst>
              <a:path w="1524000" h="1933575">
                <a:moveTo>
                  <a:pt x="0" y="0"/>
                </a:moveTo>
                <a:lnTo>
                  <a:pt x="1524000" y="0"/>
                </a:lnTo>
                <a:lnTo>
                  <a:pt x="15240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8625" y="209550"/>
            <a:ext cx="1533525" cy="1295400"/>
          </a:xfrm>
          <a:custGeom>
            <a:avLst/>
            <a:gdLst/>
            <a:ahLst/>
            <a:cxnLst/>
            <a:rect l="l" t="t" r="r" b="b"/>
            <a:pathLst>
              <a:path w="1533525" h="1295400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7924800"/>
            <a:ext cx="9801225" cy="2362200"/>
          </a:xfrm>
          <a:custGeom>
            <a:avLst/>
            <a:gdLst/>
            <a:ahLst/>
            <a:cxnLst/>
            <a:rect l="l" t="t" r="r" b="b"/>
            <a:pathLst>
              <a:path w="9801225" h="2362200">
                <a:moveTo>
                  <a:pt x="0" y="0"/>
                </a:moveTo>
                <a:lnTo>
                  <a:pt x="9801225" y="0"/>
                </a:lnTo>
                <a:lnTo>
                  <a:pt x="9801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5388" y="3168467"/>
            <a:ext cx="10042646" cy="5937433"/>
          </a:xfrm>
          <a:custGeom>
            <a:avLst/>
            <a:gdLst/>
            <a:ahLst/>
            <a:cxnLst/>
            <a:rect l="l" t="t" r="r" b="b"/>
            <a:pathLst>
              <a:path w="10042646" h="5937433">
                <a:moveTo>
                  <a:pt x="0" y="0"/>
                </a:moveTo>
                <a:lnTo>
                  <a:pt x="10042645" y="0"/>
                </a:lnTo>
                <a:lnTo>
                  <a:pt x="10042645" y="5937433"/>
                </a:lnTo>
                <a:lnTo>
                  <a:pt x="0" y="59374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75104" y="369302"/>
            <a:ext cx="1865376" cy="96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5303" b="1" spc="-212">
                <a:solidFill>
                  <a:srgbClr val="E30B00"/>
                </a:solidFill>
                <a:latin typeface="Poppins Bold"/>
                <a:ea typeface="Poppins Bold"/>
                <a:cs typeface="Poppins Bold"/>
                <a:sym typeface="Poppins Bold"/>
              </a:rPr>
              <a:t>ITSAV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75104" y="1184184"/>
            <a:ext cx="1865376" cy="28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sz="109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INSTITUTO TECNOLÓGICO SUPERIOR DE ALVARADO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091827"/>
            <a:ext cx="7388352" cy="875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3"/>
              </a:lnSpc>
            </a:pPr>
            <a:r>
              <a:rPr lang="en-US" sz="7667" b="1">
                <a:solidFill>
                  <a:srgbClr val="2F337A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PROYECTO 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25889" y="1985541"/>
            <a:ext cx="4833819" cy="74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0"/>
              </a:lnSpc>
              <a:spcBef>
                <a:spcPct val="0"/>
              </a:spcBef>
            </a:pPr>
            <a:r>
              <a:rPr lang="en-US" sz="40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Esperanza de vida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0633" y="4414706"/>
            <a:ext cx="6567487" cy="336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estamos viendo? </a:t>
            </a:r>
          </a:p>
          <a:p>
            <a:pPr algn="ctr">
              <a:lnSpc>
                <a:spcPts val="3320"/>
              </a:lnSpc>
              <a:spcBef>
                <a:spcPct val="0"/>
              </a:spcBef>
            </a:pPr>
            <a:r>
              <a:rPr lang="en-US" sz="23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agruparon los 1,704 registros de países y años según su esperanza de vida. Los valores se concentran especialmente cerca de los 70 años; esta gráfica muestra frecuencias, no identifica países individuales.</a:t>
            </a:r>
          </a:p>
          <a:p>
            <a:pPr algn="ctr">
              <a:lnSpc>
                <a:spcPts val="3320"/>
              </a:lnSpc>
              <a:spcBef>
                <a:spcPct val="0"/>
              </a:spcBef>
            </a:pPr>
            <a:endParaRPr lang="en-US" sz="237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3068300" cy="428625"/>
          </a:xfrm>
          <a:custGeom>
            <a:avLst/>
            <a:gdLst/>
            <a:ahLst/>
            <a:cxnLst/>
            <a:rect l="l" t="t" r="r" b="b"/>
            <a:pathLst>
              <a:path w="13068300" h="428625">
                <a:moveTo>
                  <a:pt x="0" y="0"/>
                </a:moveTo>
                <a:lnTo>
                  <a:pt x="13068300" y="0"/>
                </a:lnTo>
                <a:lnTo>
                  <a:pt x="13068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39700" y="0"/>
            <a:ext cx="5448300" cy="428625"/>
          </a:xfrm>
          <a:custGeom>
            <a:avLst/>
            <a:gdLst/>
            <a:ahLst/>
            <a:cxnLst/>
            <a:rect l="l" t="t" r="r" b="b"/>
            <a:pathLst>
              <a:path w="5448300" h="428625">
                <a:moveTo>
                  <a:pt x="0" y="0"/>
                </a:moveTo>
                <a:lnTo>
                  <a:pt x="5448300" y="0"/>
                </a:lnTo>
                <a:lnTo>
                  <a:pt x="5448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64000" y="209550"/>
            <a:ext cx="1524000" cy="1933575"/>
          </a:xfrm>
          <a:custGeom>
            <a:avLst/>
            <a:gdLst/>
            <a:ahLst/>
            <a:cxnLst/>
            <a:rect l="l" t="t" r="r" b="b"/>
            <a:pathLst>
              <a:path w="1524000" h="1933575">
                <a:moveTo>
                  <a:pt x="0" y="0"/>
                </a:moveTo>
                <a:lnTo>
                  <a:pt x="1524000" y="0"/>
                </a:lnTo>
                <a:lnTo>
                  <a:pt x="15240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8625" y="209550"/>
            <a:ext cx="1533525" cy="1295400"/>
          </a:xfrm>
          <a:custGeom>
            <a:avLst/>
            <a:gdLst/>
            <a:ahLst/>
            <a:cxnLst/>
            <a:rect l="l" t="t" r="r" b="b"/>
            <a:pathLst>
              <a:path w="1533525" h="1295400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7924800"/>
            <a:ext cx="9801225" cy="2362200"/>
          </a:xfrm>
          <a:custGeom>
            <a:avLst/>
            <a:gdLst/>
            <a:ahLst/>
            <a:cxnLst/>
            <a:rect l="l" t="t" r="r" b="b"/>
            <a:pathLst>
              <a:path w="9801225" h="2362200">
                <a:moveTo>
                  <a:pt x="0" y="0"/>
                </a:moveTo>
                <a:lnTo>
                  <a:pt x="9801225" y="0"/>
                </a:lnTo>
                <a:lnTo>
                  <a:pt x="9801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8983" y="3194782"/>
            <a:ext cx="7827229" cy="6294434"/>
          </a:xfrm>
          <a:custGeom>
            <a:avLst/>
            <a:gdLst/>
            <a:ahLst/>
            <a:cxnLst/>
            <a:rect l="l" t="t" r="r" b="b"/>
            <a:pathLst>
              <a:path w="7827229" h="6294434">
                <a:moveTo>
                  <a:pt x="0" y="0"/>
                </a:moveTo>
                <a:lnTo>
                  <a:pt x="7827229" y="0"/>
                </a:lnTo>
                <a:lnTo>
                  <a:pt x="7827229" y="6294435"/>
                </a:lnTo>
                <a:lnTo>
                  <a:pt x="0" y="6294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75104" y="369302"/>
            <a:ext cx="1865376" cy="96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5303" b="1" spc="-212">
                <a:solidFill>
                  <a:srgbClr val="E30B00"/>
                </a:solidFill>
                <a:latin typeface="Poppins Bold"/>
                <a:ea typeface="Poppins Bold"/>
                <a:cs typeface="Poppins Bold"/>
                <a:sym typeface="Poppins Bold"/>
              </a:rPr>
              <a:t>ITSAV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75104" y="1184184"/>
            <a:ext cx="1865376" cy="28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sz="109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INSTITUTO TECNOLÓGICO SUPERIOR DE ALVARADO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091827"/>
            <a:ext cx="7388352" cy="875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3"/>
              </a:lnSpc>
            </a:pPr>
            <a:r>
              <a:rPr lang="en-US" sz="7667" b="1">
                <a:solidFill>
                  <a:srgbClr val="2F337A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PROYECTO 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09143" y="1952521"/>
            <a:ext cx="3784163" cy="74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00"/>
              </a:lnSpc>
              <a:spcBef>
                <a:spcPct val="0"/>
              </a:spcBef>
            </a:pPr>
            <a:r>
              <a:rPr lang="en-US" sz="40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Mapa de calor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40558" y="3990872"/>
            <a:ext cx="6518742" cy="504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encontramos?</a:t>
            </a:r>
          </a:p>
          <a:p>
            <a:pPr algn="l">
              <a:lnSpc>
                <a:spcPts val="3320"/>
              </a:lnSpc>
              <a:spcBef>
                <a:spcPct val="0"/>
              </a:spcBef>
            </a:pPr>
            <a:endParaRPr lang="en-US" sz="2371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320"/>
              </a:lnSpc>
              <a:spcBef>
                <a:spcPct val="0"/>
              </a:spcBef>
            </a:pPr>
            <a:r>
              <a:rPr lang="en-US" sz="23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relación entre PIB por habitante y esperanza de vida es positiva y moderada (0.58): en estos datos, los valores altos de una variable suelen acompañarse de valores altos de la otra.</a:t>
            </a:r>
          </a:p>
          <a:p>
            <a:pPr algn="l">
              <a:lnSpc>
                <a:spcPts val="3320"/>
              </a:lnSpc>
              <a:spcBef>
                <a:spcPct val="0"/>
              </a:spcBef>
            </a:pPr>
            <a:endParaRPr lang="en-US" sz="237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20"/>
              </a:lnSpc>
              <a:spcBef>
                <a:spcPct val="0"/>
              </a:spcBef>
            </a:pPr>
            <a:r>
              <a:rPr lang="en-US" sz="23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Esto muestra una asociación, no demuestra que el PIB sea la causa.</a:t>
            </a:r>
          </a:p>
          <a:p>
            <a:pPr algn="l">
              <a:lnSpc>
                <a:spcPts val="3320"/>
              </a:lnSpc>
              <a:spcBef>
                <a:spcPct val="0"/>
              </a:spcBef>
            </a:pPr>
            <a:endParaRPr lang="en-US" sz="237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20"/>
              </a:lnSpc>
              <a:spcBef>
                <a:spcPct val="0"/>
              </a:spcBef>
            </a:pPr>
            <a:endParaRPr lang="en-US" sz="237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9508267"/>
            <a:ext cx="9439784" cy="43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relación es positiva. La gráfica no demuestra una causa.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625" y="2095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57550" y="4286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1046" y="8568803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02313" y="8740253"/>
            <a:ext cx="10856285" cy="1833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207" b="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En el curso se cargan datos de precios de casas. Nosotros cargamos Gapminder y seleccionamos cuatro columnas para preparar un modelo que distinga registros con esperanza de vida alta o baja.</a:t>
            </a:r>
          </a:p>
          <a:p>
            <a:pPr algn="l">
              <a:lnSpc>
                <a:spcPts val="2670"/>
              </a:lnSpc>
            </a:pPr>
            <a:endParaRPr lang="en-US" sz="2207" b="1">
              <a:solidFill>
                <a:srgbClr val="000000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  <a:p>
            <a:pPr algn="l">
              <a:lnSpc>
                <a:spcPts val="2670"/>
              </a:lnSpc>
            </a:pPr>
            <a:endParaRPr lang="en-US" sz="2207" b="1">
              <a:solidFill>
                <a:srgbClr val="000000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0" y="8143875"/>
            <a:ext cx="1962150" cy="2143125"/>
          </a:xfrm>
          <a:custGeom>
            <a:avLst/>
            <a:gdLst/>
            <a:ahLst/>
            <a:cxnLst/>
            <a:rect l="l" t="t" r="r" b="b"/>
            <a:pathLst>
              <a:path w="1962150" h="2143125">
                <a:moveTo>
                  <a:pt x="0" y="0"/>
                </a:moveTo>
                <a:lnTo>
                  <a:pt x="1962150" y="0"/>
                </a:lnTo>
                <a:lnTo>
                  <a:pt x="1962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4925" y="9210675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582775" y="9001125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87700" y="900112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73550" y="8782050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54480" y="305876"/>
            <a:ext cx="1664208" cy="80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4644" b="1">
                <a:solidFill>
                  <a:srgbClr val="D1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ITSAV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29584" y="485918"/>
            <a:ext cx="2761488" cy="47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68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INSTITUTO TECNOLÓGICO SUPERIOR DE ALVARADO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4925" y="1721523"/>
            <a:ext cx="5722025" cy="1077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58"/>
              </a:lnSpc>
              <a:spcBef>
                <a:spcPct val="0"/>
              </a:spcBef>
            </a:pPr>
            <a:r>
              <a:rPr lang="en-US" sz="6660" b="1">
                <a:solidFill>
                  <a:srgbClr val="182864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PROYECTO 9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03983" y="1963508"/>
            <a:ext cx="7519035" cy="593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3"/>
              </a:lnSpc>
              <a:spcBef>
                <a:spcPct val="0"/>
              </a:spcBef>
            </a:pPr>
            <a:r>
              <a:rPr lang="en-US" sz="3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Qué cambiamos del codigo 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1687" y="3602494"/>
            <a:ext cx="5168500" cy="42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 del curso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6312" y="5259634"/>
            <a:ext cx="7457058" cy="121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3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df_boston = pd.read_csv('Boston House Prices.csv')</a:t>
            </a:r>
          </a:p>
          <a:p>
            <a:pPr algn="r">
              <a:lnSpc>
                <a:spcPts val="3273"/>
              </a:lnSpc>
              <a:spcBef>
                <a:spcPct val="0"/>
              </a:spcBef>
            </a:pPr>
            <a:endParaRPr lang="en-US" sz="2517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124950" y="4796755"/>
            <a:ext cx="0" cy="2655641"/>
          </a:xfrm>
          <a:prstGeom prst="line">
            <a:avLst/>
          </a:prstGeom>
          <a:ln w="38100" cap="flat">
            <a:solidFill>
              <a:srgbClr val="E91F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1376425" y="3602494"/>
            <a:ext cx="5168500" cy="42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Nuestro caso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03410" y="5259634"/>
            <a:ext cx="7290078" cy="2528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73"/>
              </a:lnSpc>
              <a:spcBef>
                <a:spcPct val="0"/>
              </a:spcBef>
            </a:pP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df = </a:t>
            </a:r>
            <a:r>
              <a:rPr lang="en-US" sz="2517" dirty="0" err="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pd.read_csv</a:t>
            </a: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('gapminder_full.csv')</a:t>
            </a:r>
          </a:p>
          <a:p>
            <a:pPr>
              <a:lnSpc>
                <a:spcPts val="3273"/>
              </a:lnSpc>
              <a:spcBef>
                <a:spcPct val="0"/>
              </a:spcBef>
            </a:pPr>
            <a:endParaRPr lang="en-US" sz="2517" dirty="0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>
              <a:lnSpc>
                <a:spcPts val="3273"/>
              </a:lnSpc>
              <a:spcBef>
                <a:spcPct val="0"/>
              </a:spcBef>
            </a:pP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X = df[['</a:t>
            </a:r>
            <a:r>
              <a:rPr lang="en-US" sz="2517" dirty="0" err="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year','population</a:t>
            </a: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',</a:t>
            </a:r>
          </a:p>
          <a:p>
            <a:pPr>
              <a:lnSpc>
                <a:spcPts val="3273"/>
              </a:lnSpc>
              <a:spcBef>
                <a:spcPct val="0"/>
              </a:spcBef>
            </a:pP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'</a:t>
            </a:r>
            <a:r>
              <a:rPr lang="en-US" sz="2517" dirty="0" err="1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gdp_cap','continent</a:t>
            </a:r>
            <a:r>
              <a:rPr lang="en-US" sz="2517" dirty="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']]</a:t>
            </a:r>
          </a:p>
          <a:p>
            <a:pPr algn="just">
              <a:lnSpc>
                <a:spcPts val="3273"/>
              </a:lnSpc>
              <a:spcBef>
                <a:spcPct val="0"/>
              </a:spcBef>
            </a:pPr>
            <a:endParaRPr lang="en-US" sz="2517" dirty="0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625" y="2095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57550" y="4286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1046" y="8568803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143875"/>
            <a:ext cx="1962150" cy="2143125"/>
          </a:xfrm>
          <a:custGeom>
            <a:avLst/>
            <a:gdLst/>
            <a:ahLst/>
            <a:cxnLst/>
            <a:rect l="l" t="t" r="r" b="b"/>
            <a:pathLst>
              <a:path w="1962150" h="2143125">
                <a:moveTo>
                  <a:pt x="0" y="0"/>
                </a:moveTo>
                <a:lnTo>
                  <a:pt x="1962150" y="0"/>
                </a:lnTo>
                <a:lnTo>
                  <a:pt x="1962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4925" y="9210675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82775" y="9001125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87700" y="900112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973550" y="8782050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9124950" y="4796755"/>
            <a:ext cx="0" cy="2655641"/>
          </a:xfrm>
          <a:prstGeom prst="line">
            <a:avLst/>
          </a:prstGeom>
          <a:ln w="38100" cap="flat">
            <a:solidFill>
              <a:srgbClr val="E91F26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11" name="Object 11"/>
          <p:cNvGraphicFramePr/>
          <p:nvPr>
            <p:extLst>
              <p:ext uri="{D42A27DB-BD31-4B8C-83A1-F6EECF244321}">
                <p14:modId xmlns:p14="http://schemas.microsoft.com/office/powerpoint/2010/main" val="316613810"/>
              </p:ext>
            </p:extLst>
          </p:nvPr>
        </p:nvGraphicFramePr>
        <p:xfrm>
          <a:off x="-425108" y="4610265"/>
          <a:ext cx="9588159" cy="2616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Worksheet" r:id="rId11" imgW="9042400" imgH="2755900" progId="Excel.Sheet.12">
                  <p:embed/>
                </p:oleObj>
              </mc:Choice>
              <mc:Fallback>
                <p:oleObj name="Worksheet" r:id="rId11" imgW="9042400" imgH="2755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-425108" y="4610265"/>
                        <a:ext cx="9588159" cy="2616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/>
          <p:nvPr>
            <p:extLst>
              <p:ext uri="{D42A27DB-BD31-4B8C-83A1-F6EECF244321}">
                <p14:modId xmlns:p14="http://schemas.microsoft.com/office/powerpoint/2010/main" val="3068717669"/>
              </p:ext>
            </p:extLst>
          </p:nvPr>
        </p:nvGraphicFramePr>
        <p:xfrm>
          <a:off x="9163051" y="4050624"/>
          <a:ext cx="11847374" cy="3304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Worksheet" r:id="rId13" imgW="13576300" imgH="3517900" progId="Excel.Sheet.12">
                  <p:embed/>
                </p:oleObj>
              </mc:Choice>
              <mc:Fallback>
                <p:oleObj name="Worksheet" r:id="rId13" imgW="13576300" imgH="3517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63051" y="4050624"/>
                        <a:ext cx="11847374" cy="3304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2502313" y="8740253"/>
            <a:ext cx="10856285" cy="1500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207" b="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Las tres variables numéricas se escalan para que sus tamaños sean comparables. El continente, que era texto, se representa con cinco columnas de 0 y 1. Así pasamos de 4 columnas de entrada a 8 columnas numéricas.</a:t>
            </a:r>
          </a:p>
          <a:p>
            <a:pPr algn="l">
              <a:lnSpc>
                <a:spcPts val="2670"/>
              </a:lnSpc>
            </a:pPr>
            <a:endParaRPr lang="en-US" sz="2207" b="1">
              <a:solidFill>
                <a:srgbClr val="000000"/>
              </a:solidFill>
              <a:latin typeface="Raleway Semi-Bold"/>
              <a:ea typeface="Raleway Semi-Bold"/>
              <a:cs typeface="Raleway Semi-Bold"/>
              <a:sym typeface="Raleway Semi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54480" y="305876"/>
            <a:ext cx="1664208" cy="80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4644" b="1">
                <a:solidFill>
                  <a:srgbClr val="D1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ITSAV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29584" y="485918"/>
            <a:ext cx="2761488" cy="47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68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INSTITUTO TECNOLÓGICO SUPERIOR DE ALVARADO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4925" y="1721523"/>
            <a:ext cx="5722025" cy="1077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58"/>
              </a:lnSpc>
              <a:spcBef>
                <a:spcPct val="0"/>
              </a:spcBef>
            </a:pPr>
            <a:r>
              <a:rPr lang="en-US" sz="6660" b="1">
                <a:solidFill>
                  <a:srgbClr val="182864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PROYECTO 9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03983" y="1963508"/>
            <a:ext cx="5105281" cy="593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3"/>
              </a:lnSpc>
              <a:spcBef>
                <a:spcPct val="0"/>
              </a:spcBef>
            </a:pPr>
            <a:r>
              <a:rPr lang="en-US" sz="3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preparar las variables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1687" y="3602494"/>
            <a:ext cx="5168500" cy="42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Antes — una fila de México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65463" y="3397706"/>
            <a:ext cx="5825725" cy="834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Después — datos preparados para el modelo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625" y="2095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57550" y="4286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143875"/>
            <a:ext cx="1962150" cy="2143125"/>
          </a:xfrm>
          <a:custGeom>
            <a:avLst/>
            <a:gdLst/>
            <a:ahLst/>
            <a:cxnLst/>
            <a:rect l="l" t="t" r="r" b="b"/>
            <a:pathLst>
              <a:path w="1962150" h="2143125">
                <a:moveTo>
                  <a:pt x="0" y="0"/>
                </a:moveTo>
                <a:lnTo>
                  <a:pt x="1962150" y="0"/>
                </a:lnTo>
                <a:lnTo>
                  <a:pt x="1962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4925" y="9210675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82775" y="9001125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87700" y="900112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73550" y="8782050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3678" y="2918733"/>
            <a:ext cx="7133300" cy="6172200"/>
          </a:xfrm>
          <a:custGeom>
            <a:avLst/>
            <a:gdLst/>
            <a:ahLst/>
            <a:cxnLst/>
            <a:rect l="l" t="t" r="r" b="b"/>
            <a:pathLst>
              <a:path w="7133300" h="6172200">
                <a:moveTo>
                  <a:pt x="0" y="0"/>
                </a:moveTo>
                <a:lnTo>
                  <a:pt x="7133300" y="0"/>
                </a:lnTo>
                <a:lnTo>
                  <a:pt x="71333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4480" y="305876"/>
            <a:ext cx="1664208" cy="80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4644" b="1">
                <a:solidFill>
                  <a:srgbClr val="D1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ITSAV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29584" y="485918"/>
            <a:ext cx="2761488" cy="47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68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INSTITUTO TECNOLÓGICO SUPERIOR DE ALVARADO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4925" y="1721523"/>
            <a:ext cx="5722025" cy="1077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58"/>
              </a:lnSpc>
              <a:spcBef>
                <a:spcPct val="0"/>
              </a:spcBef>
            </a:pPr>
            <a:r>
              <a:rPr lang="en-US" sz="6660" b="1">
                <a:solidFill>
                  <a:srgbClr val="182864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PROYECTO 9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03983" y="1963508"/>
            <a:ext cx="7897059" cy="593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3"/>
              </a:lnSpc>
              <a:spcBef>
                <a:spcPct val="0"/>
              </a:spcBef>
            </a:pPr>
            <a:r>
              <a:rPr lang="en-US" sz="35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una comprobación con un modelo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4399642"/>
            <a:ext cx="8495203" cy="2937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3"/>
              </a:lnSpc>
            </a:pPr>
            <a:r>
              <a:rPr lang="en-US" sz="281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288 de 341 predicciones correctas (84.5 %)</a:t>
            </a:r>
          </a:p>
          <a:p>
            <a:pPr algn="ctr">
              <a:lnSpc>
                <a:spcPts val="3273"/>
              </a:lnSpc>
            </a:pPr>
            <a:endParaRPr lang="en-US" sz="2817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Después de preparar los datos, probamos una regresión logística sencilla. Acertó en 147 casos de esperanza de vida baja y 141 de esperanza de vida alta; se equivocó en 53 casos.</a:t>
            </a:r>
          </a:p>
          <a:p>
            <a:pPr algn="ctr">
              <a:lnSpc>
                <a:spcPts val="3273"/>
              </a:lnSpc>
              <a:spcBef>
                <a:spcPct val="0"/>
              </a:spcBef>
            </a:pPr>
            <a:endParaRPr lang="en-US" sz="251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625" y="2095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57550" y="4286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143875"/>
            <a:ext cx="1962150" cy="2143125"/>
          </a:xfrm>
          <a:custGeom>
            <a:avLst/>
            <a:gdLst/>
            <a:ahLst/>
            <a:cxnLst/>
            <a:rect l="l" t="t" r="r" b="b"/>
            <a:pathLst>
              <a:path w="1962150" h="2143125">
                <a:moveTo>
                  <a:pt x="0" y="0"/>
                </a:moveTo>
                <a:lnTo>
                  <a:pt x="1962150" y="0"/>
                </a:lnTo>
                <a:lnTo>
                  <a:pt x="1962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4925" y="9210675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82775" y="9001125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87700" y="900112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73550" y="8782050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54480" y="305876"/>
            <a:ext cx="1664208" cy="80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4644" b="1">
                <a:solidFill>
                  <a:srgbClr val="D1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ITSAV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29584" y="485918"/>
            <a:ext cx="2761488" cy="47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687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INSTITUTO TECNOLÓGICO SUPERIOR DE ALVARADO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4924" y="1702473"/>
            <a:ext cx="10201275" cy="1297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1152"/>
              </a:lnSpc>
              <a:spcBef>
                <a:spcPct val="0"/>
              </a:spcBef>
            </a:pPr>
            <a:r>
              <a:rPr lang="en-US" sz="8579" b="1" dirty="0">
                <a:solidFill>
                  <a:srgbClr val="182864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CONCLUSIONES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459413"/>
            <a:ext cx="15531366" cy="987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  <a:spcBef>
                <a:spcPct val="0"/>
              </a:spcBef>
            </a:pPr>
            <a:r>
              <a:rPr lang="en-US" sz="2744" b="1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7 · VISUALIZACIÓN: </a:t>
            </a:r>
            <a:r>
              <a:rPr lang="en-US" sz="27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LOS CINCO PAÍSES LATINOAMERICANOS COMPARADOS, LA ESPERANZA DE VIDA AUMENTÓ ENTRE 1952 Y 2007.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6312" y="4672232"/>
            <a:ext cx="15531366" cy="147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  <a:spcBef>
                <a:spcPct val="0"/>
              </a:spcBef>
            </a:pPr>
            <a:r>
              <a:rPr lang="en-US" sz="2744" b="1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8 · ANÁLISIS ESTADÍSTICO: </a:t>
            </a:r>
            <a:r>
              <a:rPr lang="en-US" sz="27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GAPMINDER OBSERVAMOS UNA RELACIÓN POSITIVA ENTRE PIB POR HABITANTE Y ESPERANZA DE VIDA (CORRELACIÓN DE 0.58). ESTO NO DEMUESTRA UNA CAUSA.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6312" y="6374165"/>
            <a:ext cx="15531366" cy="987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  <a:spcBef>
                <a:spcPct val="0"/>
              </a:spcBef>
            </a:pPr>
            <a:r>
              <a:rPr lang="en-US" sz="2744" b="1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9 · PREPROCESAMIENTO: </a:t>
            </a:r>
            <a:r>
              <a:rPr lang="en-US" sz="27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CONVERTIMOS CUATRO VARIABLES DE ENTRADA EN OCHO COLUMNAS NUMÉRICAS Y COMPROBAMOS QUE PODÍAN UTILIZARSE EN UN MODELO.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6312" y="7990372"/>
            <a:ext cx="15531366" cy="987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sz="2744" b="1">
                <a:solidFill>
                  <a:srgbClr val="D1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CONCLUSIÓN GENERAL:</a:t>
            </a:r>
            <a:r>
              <a:rPr lang="en-US" sz="2744" b="1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 </a:t>
            </a:r>
            <a:r>
              <a:rPr lang="en-US" sz="27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 EL MISMO DATASET PASAMOS DE VISUALIZAR LOS DATOS A EXPLORAR SUS RELACIONES Y PREPARARLOS PARA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1026</Words>
  <Application>Microsoft Office PowerPoint</Application>
  <PresentationFormat>Personalizado</PresentationFormat>
  <Paragraphs>127</Paragraphs>
  <Slides>13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18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33" baseType="lpstr">
      <vt:lpstr>Tomorrow Bold</vt:lpstr>
      <vt:lpstr>Public Sans Italics</vt:lpstr>
      <vt:lpstr>Cosmic Octo Bold</vt:lpstr>
      <vt:lpstr>Poppins Heavy</vt:lpstr>
      <vt:lpstr>Hagrid Heavy</vt:lpstr>
      <vt:lpstr>Poppins</vt:lpstr>
      <vt:lpstr>Fira Code</vt:lpstr>
      <vt:lpstr>Public Sans</vt:lpstr>
      <vt:lpstr>Calibri</vt:lpstr>
      <vt:lpstr>Poppins Medium</vt:lpstr>
      <vt:lpstr>Hagrid Ultra-Bold</vt:lpstr>
      <vt:lpstr>Public Sans Bold</vt:lpstr>
      <vt:lpstr>Arial</vt:lpstr>
      <vt:lpstr>Raleway Bold</vt:lpstr>
      <vt:lpstr>Raleway Heavy</vt:lpstr>
      <vt:lpstr>Raleway Semi-Bold</vt:lpstr>
      <vt:lpstr>Monument Bold</vt:lpstr>
      <vt:lpstr>Poppins Bold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EQUIPO: B</dc:title>
  <cp:lastModifiedBy>Jose Carlos Hernandez Ballado</cp:lastModifiedBy>
  <cp:revision>3</cp:revision>
  <dcterms:created xsi:type="dcterms:W3CDTF">2006-08-16T00:00:00Z</dcterms:created>
  <dcterms:modified xsi:type="dcterms:W3CDTF">2026-10-01T06:17:24Z</dcterms:modified>
  <dc:identifier>DAHWmwQIh1c</dc:identifier>
</cp:coreProperties>
</file>